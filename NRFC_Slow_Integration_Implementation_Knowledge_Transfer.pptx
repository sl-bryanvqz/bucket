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heme/theme3.xml" ContentType="application/vnd.openxmlformats-officedocument.them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1.xml" ContentType="application/vnd.openxmlformats-officedocument.presentationml.notesSlide+xml"/>
  <Override PartName="/ppt/tags/tag15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notesMasterIdLst>
    <p:notesMasterId r:id="rId28"/>
  </p:notesMasterIdLst>
  <p:sldIdLst>
    <p:sldId id="541" r:id="rId6"/>
    <p:sldId id="257" r:id="rId7"/>
    <p:sldId id="258" r:id="rId8"/>
    <p:sldId id="2147472333" r:id="rId9"/>
    <p:sldId id="2147472331" r:id="rId10"/>
    <p:sldId id="259" r:id="rId11"/>
    <p:sldId id="272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56" r:id="rId22"/>
    <p:sldId id="2147472334" r:id="rId23"/>
    <p:sldId id="269" r:id="rId24"/>
    <p:sldId id="270" r:id="rId25"/>
    <p:sldId id="271" r:id="rId26"/>
    <p:sldId id="27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E1879-5609-CC19-C296-341A83A2FFE8}" v="7" dt="2026-10-06T18:52:48.067"/>
    <p1510:client id="{1BAE43E3-602C-85C8-2AE1-285009D6C721}" v="28" dt="2026-10-06T22:50:16.764"/>
    <p1510:client id="{31A2CEE4-F6C9-4F19-9600-A35687234CC8}" v="111" dt="2026-10-06T22:52:37.613"/>
    <p1510:client id="{65E182DE-9EA0-4679-AF01-3E697EF7242B}" v="62" dt="2026-10-06T18:58:17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88E5FD-BB14-4518-B1F0-A5006B2EC96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719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EE872-5A7C-E274-9D86-5E0760B2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D6FC8-572B-DB9E-958C-DF6051AE9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D8FE1-B10B-E32C-CA39-D5CF3264F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CA"/>
              <a:t>Key Controls</a:t>
            </a:r>
            <a:endParaRPr lang="en-CA">
              <a:cs typeface="Arial"/>
            </a:endParaRPr>
          </a:p>
          <a:p>
            <a:pPr>
              <a:buFont typeface="Arial"/>
              <a:buChar char="•"/>
            </a:pPr>
            <a:r>
              <a:rPr lang="en-CA"/>
              <a:t>Watermark processing</a:t>
            </a:r>
          </a:p>
          <a:p>
            <a:pPr>
              <a:buFont typeface="Arial"/>
              <a:buChar char="•"/>
            </a:pPr>
            <a:r>
              <a:rPr lang="en-CA"/>
              <a:t>Metadata-driven execution</a:t>
            </a:r>
          </a:p>
          <a:p>
            <a:pPr>
              <a:buFont typeface="Arial"/>
              <a:buChar char="•"/>
            </a:pPr>
            <a:r>
              <a:rPr lang="en-CA"/>
              <a:t>Reconciliation</a:t>
            </a:r>
          </a:p>
          <a:p>
            <a:pPr>
              <a:buFont typeface="Arial"/>
              <a:buChar char="•"/>
            </a:pPr>
            <a:r>
              <a:rPr lang="en-CA"/>
              <a:t>Contract validation</a:t>
            </a:r>
          </a:p>
          <a:p>
            <a:pPr>
              <a:buFont typeface="Arial"/>
              <a:buChar char="•"/>
            </a:pPr>
            <a:r>
              <a:rPr lang="en-CA"/>
              <a:t>Audit logging</a:t>
            </a:r>
          </a:p>
          <a:p>
            <a:pPr marL="285750" indent="-285750">
              <a:buFont typeface="Arial"/>
              <a:buChar char="•"/>
            </a:pPr>
            <a:endParaRPr lang="en-CA">
              <a:cs typeface="Arial"/>
            </a:endParaRPr>
          </a:p>
          <a:p>
            <a:pPr>
              <a:defRPr/>
            </a:pPr>
            <a:endParaRPr lang="en-US">
              <a:cs typeface="Arial" pitchFamily="34" charset="0"/>
            </a:endParaRPr>
          </a:p>
          <a:p>
            <a:pPr>
              <a:defRPr/>
            </a:pPr>
            <a:endParaRPr lang="en-CA">
              <a:cs typeface="Arial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728B3-C525-EA5A-5572-9592B5F26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8E5FD-BB14-4518-B1F0-A5006B2EC96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538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User-provided Fabric loader notebook code in current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User-provided nb_framework_shared_functions notebook code in current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NRFC_Fabric_Architecture_KT_Main.pptx
- NRFC Slow Integration Architecture Knowledge Transfer.pptx
- NRFC_Fabric_Lakehouse_Architecture_Standards_KT.pptx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2.xml"/><Relationship Id="rId4" Type="http://schemas.openxmlformats.org/officeDocument/2006/relationships/tags" Target="../tags/tag3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5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0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7" Type="http://schemas.openxmlformats.org/officeDocument/2006/relationships/image" Target="../media/image3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image" Target="../media/image2.jpe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3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3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7" Type="http://schemas.openxmlformats.org/officeDocument/2006/relationships/image" Target="../media/image4.emf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0.xml"/><Relationship Id="rId4" Type="http://schemas.openxmlformats.org/officeDocument/2006/relationships/tags" Target="../tags/tag139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14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image" Target="../media/image4.emf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RF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NRFC Slow Integration | Architecture Knowledge Transfer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nortonrosefulbright.com</a:t>
            </a:r>
            <a:endParaRPr lang="en-US" sz="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RF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3C2A-CCC9-4BA2-92E4-F61D2813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C414D-FF50-4280-9436-FC7A771F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Box"/>
          <p:cNvSpPr txBox="1"/>
          <p:nvPr userDrawn="1">
            <p:custDataLst>
              <p:tags r:id="rId1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02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R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1712" y="64190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E5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</a:t>
            </a:r>
            <a:endParaRPr lang="en-US" sz="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3737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60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A35145-0EAB-44D8-9675-80264F9E798A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455999" y="1847850"/>
            <a:ext cx="7487852" cy="41253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1FB5B2-5BD9-4249-AE73-0A9DD87C3CC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FooterBox"/>
          <p:cNvSpPr txBox="1"/>
          <p:nvPr userDrawn="1">
            <p:custDataLst>
              <p:tags r:id="rId4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72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974188-BD75-4542-A709-1BAE534D2C24}"/>
              </a:ext>
            </a:extLst>
          </p:cNvPr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456000" y="1847850"/>
            <a:ext cx="11280000" cy="41253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F66B7-3F12-44C9-89E3-2839B1680C5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FooterBox"/>
          <p:cNvSpPr txBox="1"/>
          <p:nvPr userDrawn="1">
            <p:custDataLst>
              <p:tags r:id="rId4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06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A61ABC-AF9D-4655-9629-CA5659727989}"/>
              </a:ext>
            </a:extLst>
          </p:cNvPr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455085" y="452967"/>
            <a:ext cx="11281833" cy="5520267"/>
          </a:xfr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Box"/>
          <p:cNvSpPr txBox="1"/>
          <p:nvPr userDrawn="1">
            <p:custDataLst>
              <p:tags r:id="rId3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90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F46B9B6F-6BD4-43AC-8F48-34C7031D0D71}"/>
              </a:ext>
            </a:extLst>
          </p:cNvPr>
          <p:cNvSpPr>
            <a:spLocks noGrp="1"/>
          </p:cNvSpPr>
          <p:nvPr>
            <p:ph type="chart" sz="quarter" idx="13"/>
            <p:custDataLst>
              <p:tags r:id="rId2"/>
            </p:custDataLst>
          </p:nvPr>
        </p:nvSpPr>
        <p:spPr>
          <a:xfrm>
            <a:off x="6144000" y="1847850"/>
            <a:ext cx="5592000" cy="412538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A35145-0EAB-44D8-9675-80264F9E798A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3"/>
            </p:custDataLst>
          </p:nvPr>
        </p:nvSpPr>
        <p:spPr>
          <a:xfrm>
            <a:off x="456000" y="1847850"/>
            <a:ext cx="5592000" cy="41253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7A2AE64-8CB2-4CDB-8C47-6001DC3850B7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FooterBox"/>
          <p:cNvSpPr txBox="1"/>
          <p:nvPr userDrawn="1">
            <p:custDataLst>
              <p:tags r:id="rId5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77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Page wid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F46B9B6F-6BD4-43AC-8F48-34C7031D0D71}"/>
              </a:ext>
            </a:extLst>
          </p:cNvPr>
          <p:cNvSpPr>
            <a:spLocks noGrp="1"/>
          </p:cNvSpPr>
          <p:nvPr>
            <p:ph type="chart" sz="quarter" idx="13"/>
            <p:custDataLst>
              <p:tags r:id="rId2"/>
            </p:custDataLst>
          </p:nvPr>
        </p:nvSpPr>
        <p:spPr>
          <a:xfrm>
            <a:off x="450851" y="1847850"/>
            <a:ext cx="11285149" cy="412538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7A2AE64-8CB2-4CDB-8C47-6001DC3850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FooterBox"/>
          <p:cNvSpPr txBox="1"/>
          <p:nvPr userDrawn="1">
            <p:custDataLst>
              <p:tags r:id="rId4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19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Text and image (1/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A35145-0EAB-44D8-9675-80264F9E798A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456000" y="1847850"/>
            <a:ext cx="5592000" cy="41253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C8A801-3B5D-4971-9D53-A70F789B6A54}"/>
              </a:ext>
            </a:extLst>
          </p:cNvPr>
          <p:cNvSpPr>
            <a:spLocks noGrp="1"/>
          </p:cNvSpPr>
          <p:nvPr>
            <p:ph type="pic" sz="quarter" idx="15" hasCustomPrompt="1"/>
            <p:custDataLst>
              <p:tags r:id="rId3"/>
            </p:custDataLst>
          </p:nvPr>
        </p:nvSpPr>
        <p:spPr>
          <a:xfrm>
            <a:off x="6144000" y="455083"/>
            <a:ext cx="5592000" cy="5518149"/>
          </a:xfrm>
        </p:spPr>
        <p:txBody>
          <a:bodyPr/>
          <a:lstStyle>
            <a:lvl1pPr marL="0" indent="0">
              <a:buNone/>
              <a:defRPr sz="1333" baseline="0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0140A-053C-4C5D-89B4-08AFEA82326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6000" y="455083"/>
            <a:ext cx="5592000" cy="6985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FooterBox"/>
          <p:cNvSpPr txBox="1"/>
          <p:nvPr userDrawn="1">
            <p:custDataLst>
              <p:tags r:id="rId5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71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Text and image (1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A35145-0EAB-44D8-9675-80264F9E798A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455999" y="1847850"/>
            <a:ext cx="6897300" cy="41253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C8A801-3B5D-4971-9D53-A70F789B6A54}"/>
              </a:ext>
            </a:extLst>
          </p:cNvPr>
          <p:cNvSpPr>
            <a:spLocks noGrp="1"/>
          </p:cNvSpPr>
          <p:nvPr>
            <p:ph type="pic" sz="quarter" idx="15" hasCustomPrompt="1"/>
            <p:custDataLst>
              <p:tags r:id="rId3"/>
            </p:custDataLst>
          </p:nvPr>
        </p:nvSpPr>
        <p:spPr>
          <a:xfrm>
            <a:off x="7518401" y="455083"/>
            <a:ext cx="4217599" cy="5518149"/>
          </a:xfrm>
        </p:spPr>
        <p:txBody>
          <a:bodyPr/>
          <a:lstStyle>
            <a:lvl1pPr marL="0" indent="0">
              <a:buNone/>
              <a:defRPr sz="1333" baseline="0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0140A-053C-4C5D-89B4-08AFEA82326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6000" y="455083"/>
            <a:ext cx="5592000" cy="6985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FooterBox"/>
          <p:cNvSpPr txBox="1"/>
          <p:nvPr userDrawn="1">
            <p:custDataLst>
              <p:tags r:id="rId5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33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3C2A-CCC9-4BA2-92E4-F61D2813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C414D-FF50-4280-9436-FC7A771F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Box"/>
          <p:cNvSpPr txBox="1"/>
          <p:nvPr userDrawn="1">
            <p:custDataLst>
              <p:tags r:id="rId1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12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ummary highlights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BFF40-A2D9-4DF8-898E-F4F9836512C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8496000" y="0"/>
            <a:ext cx="36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A35145-0EAB-44D8-9675-80264F9E798A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3"/>
            </p:custDataLst>
          </p:nvPr>
        </p:nvSpPr>
        <p:spPr>
          <a:xfrm>
            <a:off x="456000" y="1847850"/>
            <a:ext cx="7485733" cy="41253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45697F-44E3-4F13-BCC9-305030C397B5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>
          <a:xfrm>
            <a:off x="8989485" y="1847851"/>
            <a:ext cx="2747433" cy="4080000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 sz="160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 sz="1600"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 sz="1600"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CA4E84-1DFF-4D12-9672-1CFE2383312A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11267607" y="6116492"/>
            <a:ext cx="469311" cy="341905"/>
            <a:chOff x="8450705" y="4587368"/>
            <a:chExt cx="351983" cy="256429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0B19C26-129B-49DC-B945-281A8402F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0705" y="4587368"/>
              <a:ext cx="152663" cy="106752"/>
            </a:xfrm>
            <a:custGeom>
              <a:avLst/>
              <a:gdLst>
                <a:gd name="T0" fmla="*/ 0 w 409"/>
                <a:gd name="T1" fmla="*/ 286 h 286"/>
                <a:gd name="T2" fmla="*/ 206 w 409"/>
                <a:gd name="T3" fmla="*/ 130 h 286"/>
                <a:gd name="T4" fmla="*/ 409 w 409"/>
                <a:gd name="T5" fmla="*/ 286 h 286"/>
                <a:gd name="T6" fmla="*/ 206 w 409"/>
                <a:gd name="T7" fmla="*/ 0 h 286"/>
                <a:gd name="T8" fmla="*/ 0 w 409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86">
                  <a:moveTo>
                    <a:pt x="0" y="286"/>
                  </a:moveTo>
                  <a:lnTo>
                    <a:pt x="206" y="130"/>
                  </a:lnTo>
                  <a:lnTo>
                    <a:pt x="409" y="286"/>
                  </a:lnTo>
                  <a:lnTo>
                    <a:pt x="206" y="0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1B41DCE9-C5DE-45D9-AF49-6345A1C99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1981" y="4707931"/>
              <a:ext cx="110111" cy="135866"/>
            </a:xfrm>
            <a:custGeom>
              <a:avLst/>
              <a:gdLst>
                <a:gd name="T0" fmla="*/ 0 w 125"/>
                <a:gd name="T1" fmla="*/ 0 h 154"/>
                <a:gd name="T2" fmla="*/ 0 w 125"/>
                <a:gd name="T3" fmla="*/ 151 h 154"/>
                <a:gd name="T4" fmla="*/ 24 w 125"/>
                <a:gd name="T5" fmla="*/ 151 h 154"/>
                <a:gd name="T6" fmla="*/ 23 w 125"/>
                <a:gd name="T7" fmla="*/ 39 h 154"/>
                <a:gd name="T8" fmla="*/ 125 w 125"/>
                <a:gd name="T9" fmla="*/ 154 h 154"/>
                <a:gd name="T10" fmla="*/ 125 w 125"/>
                <a:gd name="T11" fmla="*/ 0 h 154"/>
                <a:gd name="T12" fmla="*/ 100 w 125"/>
                <a:gd name="T13" fmla="*/ 0 h 154"/>
                <a:gd name="T14" fmla="*/ 102 w 125"/>
                <a:gd name="T15" fmla="*/ 89 h 154"/>
                <a:gd name="T16" fmla="*/ 24 w 125"/>
                <a:gd name="T17" fmla="*/ 0 h 154"/>
                <a:gd name="T18" fmla="*/ 0 w 125"/>
                <a:gd name="T19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154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2" y="78"/>
                    <a:pt x="102" y="89"/>
                  </a:cubicBezTo>
                  <a:cubicBezTo>
                    <a:pt x="95" y="80"/>
                    <a:pt x="24" y="0"/>
                    <a:pt x="2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0887D97-C7F4-4871-BD02-EBCE72407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8254" y="4707931"/>
              <a:ext cx="94434" cy="133253"/>
            </a:xfrm>
            <a:custGeom>
              <a:avLst/>
              <a:gdLst>
                <a:gd name="T0" fmla="*/ 45 w 107"/>
                <a:gd name="T1" fmla="*/ 67 h 151"/>
                <a:gd name="T2" fmla="*/ 24 w 107"/>
                <a:gd name="T3" fmla="*/ 67 h 151"/>
                <a:gd name="T4" fmla="*/ 24 w 107"/>
                <a:gd name="T5" fmla="*/ 38 h 151"/>
                <a:gd name="T6" fmla="*/ 24 w 107"/>
                <a:gd name="T7" fmla="*/ 21 h 151"/>
                <a:gd name="T8" fmla="*/ 36 w 107"/>
                <a:gd name="T9" fmla="*/ 21 h 151"/>
                <a:gd name="T10" fmla="*/ 56 w 107"/>
                <a:gd name="T11" fmla="*/ 21 h 151"/>
                <a:gd name="T12" fmla="*/ 83 w 107"/>
                <a:gd name="T13" fmla="*/ 21 h 151"/>
                <a:gd name="T14" fmla="*/ 83 w 107"/>
                <a:gd name="T15" fmla="*/ 21 h 151"/>
                <a:gd name="T16" fmla="*/ 96 w 107"/>
                <a:gd name="T17" fmla="*/ 21 h 151"/>
                <a:gd name="T18" fmla="*/ 107 w 107"/>
                <a:gd name="T19" fmla="*/ 0 h 151"/>
                <a:gd name="T20" fmla="*/ 80 w 107"/>
                <a:gd name="T21" fmla="*/ 0 h 151"/>
                <a:gd name="T22" fmla="*/ 80 w 107"/>
                <a:gd name="T23" fmla="*/ 0 h 151"/>
                <a:gd name="T24" fmla="*/ 48 w 107"/>
                <a:gd name="T25" fmla="*/ 0 h 151"/>
                <a:gd name="T26" fmla="*/ 3 w 107"/>
                <a:gd name="T27" fmla="*/ 0 h 151"/>
                <a:gd name="T28" fmla="*/ 0 w 107"/>
                <a:gd name="T29" fmla="*/ 0 h 151"/>
                <a:gd name="T30" fmla="*/ 0 w 107"/>
                <a:gd name="T31" fmla="*/ 30 h 151"/>
                <a:gd name="T32" fmla="*/ 1 w 107"/>
                <a:gd name="T33" fmla="*/ 74 h 151"/>
                <a:gd name="T34" fmla="*/ 0 w 107"/>
                <a:gd name="T35" fmla="*/ 106 h 151"/>
                <a:gd name="T36" fmla="*/ 0 w 107"/>
                <a:gd name="T37" fmla="*/ 151 h 151"/>
                <a:gd name="T38" fmla="*/ 24 w 107"/>
                <a:gd name="T39" fmla="*/ 151 h 151"/>
                <a:gd name="T40" fmla="*/ 24 w 107"/>
                <a:gd name="T41" fmla="*/ 108 h 151"/>
                <a:gd name="T42" fmla="*/ 24 w 107"/>
                <a:gd name="T43" fmla="*/ 88 h 151"/>
                <a:gd name="T44" fmla="*/ 44 w 107"/>
                <a:gd name="T45" fmla="*/ 88 h 151"/>
                <a:gd name="T46" fmla="*/ 78 w 107"/>
                <a:gd name="T47" fmla="*/ 89 h 151"/>
                <a:gd name="T48" fmla="*/ 97 w 107"/>
                <a:gd name="T49" fmla="*/ 89 h 151"/>
                <a:gd name="T50" fmla="*/ 97 w 107"/>
                <a:gd name="T51" fmla="*/ 67 h 151"/>
                <a:gd name="T52" fmla="*/ 76 w 107"/>
                <a:gd name="T53" fmla="*/ 67 h 151"/>
                <a:gd name="T54" fmla="*/ 45 w 107"/>
                <a:gd name="T55" fmla="*/ 6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151">
                  <a:moveTo>
                    <a:pt x="45" y="67"/>
                  </a:moveTo>
                  <a:cubicBezTo>
                    <a:pt x="24" y="67"/>
                    <a:pt x="24" y="67"/>
                    <a:pt x="24" y="67"/>
                  </a:cubicBezTo>
                  <a:cubicBezTo>
                    <a:pt x="24" y="60"/>
                    <a:pt x="24" y="38"/>
                    <a:pt x="24" y="38"/>
                  </a:cubicBezTo>
                  <a:cubicBezTo>
                    <a:pt x="24" y="38"/>
                    <a:pt x="24" y="24"/>
                    <a:pt x="24" y="21"/>
                  </a:cubicBezTo>
                  <a:cubicBezTo>
                    <a:pt x="28" y="21"/>
                    <a:pt x="36" y="21"/>
                    <a:pt x="36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74"/>
                    <a:pt x="1" y="74"/>
                    <a:pt x="1" y="7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24" y="108"/>
                    <a:pt x="24" y="92"/>
                    <a:pt x="24" y="88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4" y="88"/>
                    <a:pt x="78" y="89"/>
                    <a:pt x="78" y="89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76" y="67"/>
                    <a:pt x="76" y="67"/>
                    <a:pt x="76" y="67"/>
                  </a:cubicBezTo>
                  <a:lnTo>
                    <a:pt x="45" y="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8B4A2873-0F76-43D6-B232-F293BBA62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7396" y="4707931"/>
              <a:ext cx="102273" cy="135866"/>
            </a:xfrm>
            <a:custGeom>
              <a:avLst/>
              <a:gdLst>
                <a:gd name="T0" fmla="*/ 39 w 116"/>
                <a:gd name="T1" fmla="*/ 82 h 154"/>
                <a:gd name="T2" fmla="*/ 97 w 116"/>
                <a:gd name="T3" fmla="*/ 154 h 154"/>
                <a:gd name="T4" fmla="*/ 116 w 116"/>
                <a:gd name="T5" fmla="*/ 138 h 154"/>
                <a:gd name="T6" fmla="*/ 71 w 116"/>
                <a:gd name="T7" fmla="*/ 84 h 154"/>
                <a:gd name="T8" fmla="*/ 87 w 116"/>
                <a:gd name="T9" fmla="*/ 71 h 154"/>
                <a:gd name="T10" fmla="*/ 97 w 116"/>
                <a:gd name="T11" fmla="*/ 43 h 154"/>
                <a:gd name="T12" fmla="*/ 90 w 116"/>
                <a:gd name="T13" fmla="*/ 20 h 154"/>
                <a:gd name="T14" fmla="*/ 71 w 116"/>
                <a:gd name="T15" fmla="*/ 6 h 154"/>
                <a:gd name="T16" fmla="*/ 53 w 116"/>
                <a:gd name="T17" fmla="*/ 1 h 154"/>
                <a:gd name="T18" fmla="*/ 34 w 116"/>
                <a:gd name="T19" fmla="*/ 0 h 154"/>
                <a:gd name="T20" fmla="*/ 14 w 116"/>
                <a:gd name="T21" fmla="*/ 0 h 154"/>
                <a:gd name="T22" fmla="*/ 0 w 116"/>
                <a:gd name="T23" fmla="*/ 0 h 154"/>
                <a:gd name="T24" fmla="*/ 0 w 116"/>
                <a:gd name="T25" fmla="*/ 3 h 154"/>
                <a:gd name="T26" fmla="*/ 0 w 116"/>
                <a:gd name="T27" fmla="*/ 56 h 154"/>
                <a:gd name="T28" fmla="*/ 0 w 116"/>
                <a:gd name="T29" fmla="*/ 76 h 154"/>
                <a:gd name="T30" fmla="*/ 0 w 116"/>
                <a:gd name="T31" fmla="*/ 123 h 154"/>
                <a:gd name="T32" fmla="*/ 0 w 116"/>
                <a:gd name="T33" fmla="*/ 151 h 154"/>
                <a:gd name="T34" fmla="*/ 24 w 116"/>
                <a:gd name="T35" fmla="*/ 151 h 154"/>
                <a:gd name="T36" fmla="*/ 24 w 116"/>
                <a:gd name="T37" fmla="*/ 116 h 154"/>
                <a:gd name="T38" fmla="*/ 24 w 116"/>
                <a:gd name="T39" fmla="*/ 76 h 154"/>
                <a:gd name="T40" fmla="*/ 24 w 116"/>
                <a:gd name="T41" fmla="*/ 54 h 154"/>
                <a:gd name="T42" fmla="*/ 24 w 116"/>
                <a:gd name="T43" fmla="*/ 21 h 154"/>
                <a:gd name="T44" fmla="*/ 29 w 116"/>
                <a:gd name="T45" fmla="*/ 21 h 154"/>
                <a:gd name="T46" fmla="*/ 44 w 116"/>
                <a:gd name="T47" fmla="*/ 21 h 154"/>
                <a:gd name="T48" fmla="*/ 57 w 116"/>
                <a:gd name="T49" fmla="*/ 24 h 154"/>
                <a:gd name="T50" fmla="*/ 68 w 116"/>
                <a:gd name="T51" fmla="*/ 32 h 154"/>
                <a:gd name="T52" fmla="*/ 71 w 116"/>
                <a:gd name="T53" fmla="*/ 46 h 154"/>
                <a:gd name="T54" fmla="*/ 69 w 116"/>
                <a:gd name="T55" fmla="*/ 59 h 154"/>
                <a:gd name="T56" fmla="*/ 62 w 116"/>
                <a:gd name="T57" fmla="*/ 68 h 154"/>
                <a:gd name="T58" fmla="*/ 51 w 116"/>
                <a:gd name="T59" fmla="*/ 76 h 154"/>
                <a:gd name="T60" fmla="*/ 39 w 116"/>
                <a:gd name="T61" fmla="*/ 8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154">
                  <a:moveTo>
                    <a:pt x="39" y="82"/>
                  </a:moveTo>
                  <a:cubicBezTo>
                    <a:pt x="97" y="154"/>
                    <a:pt x="97" y="154"/>
                    <a:pt x="97" y="154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71" y="84"/>
                    <a:pt x="81" y="76"/>
                    <a:pt x="87" y="71"/>
                  </a:cubicBezTo>
                  <a:cubicBezTo>
                    <a:pt x="93" y="63"/>
                    <a:pt x="97" y="54"/>
                    <a:pt x="97" y="43"/>
                  </a:cubicBezTo>
                  <a:cubicBezTo>
                    <a:pt x="97" y="34"/>
                    <a:pt x="95" y="27"/>
                    <a:pt x="90" y="20"/>
                  </a:cubicBezTo>
                  <a:cubicBezTo>
                    <a:pt x="85" y="14"/>
                    <a:pt x="79" y="9"/>
                    <a:pt x="71" y="6"/>
                  </a:cubicBezTo>
                  <a:cubicBezTo>
                    <a:pt x="65" y="3"/>
                    <a:pt x="59" y="1"/>
                    <a:pt x="53" y="1"/>
                  </a:cubicBezTo>
                  <a:cubicBezTo>
                    <a:pt x="47" y="0"/>
                    <a:pt x="41" y="0"/>
                    <a:pt x="34" y="0"/>
                  </a:cubicBezTo>
                  <a:cubicBezTo>
                    <a:pt x="34" y="0"/>
                    <a:pt x="14" y="0"/>
                    <a:pt x="14" y="0"/>
                  </a:cubicBezTo>
                  <a:cubicBezTo>
                    <a:pt x="14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56"/>
                    <a:pt x="0" y="5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9" y="21"/>
                    <a:pt x="44" y="21"/>
                    <a:pt x="44" y="21"/>
                  </a:cubicBezTo>
                  <a:cubicBezTo>
                    <a:pt x="49" y="22"/>
                    <a:pt x="53" y="23"/>
                    <a:pt x="57" y="24"/>
                  </a:cubicBezTo>
                  <a:cubicBezTo>
                    <a:pt x="61" y="26"/>
                    <a:pt x="65" y="29"/>
                    <a:pt x="68" y="32"/>
                  </a:cubicBezTo>
                  <a:cubicBezTo>
                    <a:pt x="70" y="36"/>
                    <a:pt x="71" y="40"/>
                    <a:pt x="71" y="46"/>
                  </a:cubicBezTo>
                  <a:cubicBezTo>
                    <a:pt x="71" y="51"/>
                    <a:pt x="70" y="56"/>
                    <a:pt x="69" y="59"/>
                  </a:cubicBezTo>
                  <a:cubicBezTo>
                    <a:pt x="67" y="63"/>
                    <a:pt x="65" y="66"/>
                    <a:pt x="62" y="68"/>
                  </a:cubicBezTo>
                  <a:cubicBezTo>
                    <a:pt x="59" y="71"/>
                    <a:pt x="56" y="74"/>
                    <a:pt x="51" y="76"/>
                  </a:cubicBezTo>
                  <a:cubicBezTo>
                    <a:pt x="45" y="80"/>
                    <a:pt x="39" y="82"/>
                    <a:pt x="39" y="8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38DB03-4A68-4197-A79D-CB612CDC390F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56000" y="455083"/>
            <a:ext cx="7488000" cy="6985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FooterBox"/>
          <p:cNvSpPr txBox="1"/>
          <p:nvPr userDrawn="1">
            <p:custDataLst>
              <p:tags r:id="rId7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66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ummary highlights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2629CE9-145C-4F55-9973-BE7723D96937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1"/>
            </p:custDataLst>
          </p:nvPr>
        </p:nvSpPr>
        <p:spPr>
          <a:xfrm>
            <a:off x="6144000" y="1847850"/>
            <a:ext cx="5592000" cy="412538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1">
            <a:extLst>
              <a:ext uri="{FF2B5EF4-FFF2-40B4-BE49-F238E27FC236}">
                <a16:creationId xmlns:a16="http://schemas.microsoft.com/office/drawing/2014/main" id="{00A35145-0EAB-44D8-9675-80264F9E798A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3"/>
            </p:custDataLst>
          </p:nvPr>
        </p:nvSpPr>
        <p:spPr>
          <a:xfrm>
            <a:off x="456000" y="1847850"/>
            <a:ext cx="5592000" cy="412538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BEFE7F-C832-4BA9-8870-E5CC1FAD4B3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FooterBox"/>
          <p:cNvSpPr txBox="1"/>
          <p:nvPr userDrawn="1">
            <p:custDataLst>
              <p:tags r:id="rId5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46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ummary highlights grid of 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2629CE9-145C-4F55-9973-BE7723D96937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1"/>
            </p:custDataLst>
          </p:nvPr>
        </p:nvSpPr>
        <p:spPr>
          <a:xfrm>
            <a:off x="3300000" y="1847850"/>
            <a:ext cx="2745600" cy="412538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1">
            <a:extLst>
              <a:ext uri="{FF2B5EF4-FFF2-40B4-BE49-F238E27FC236}">
                <a16:creationId xmlns:a16="http://schemas.microsoft.com/office/drawing/2014/main" id="{00A35145-0EAB-44D8-9675-80264F9E798A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3"/>
            </p:custDataLst>
          </p:nvPr>
        </p:nvSpPr>
        <p:spPr>
          <a:xfrm>
            <a:off x="456000" y="1847850"/>
            <a:ext cx="2744400" cy="412538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82">
            <a:extLst>
              <a:ext uri="{FF2B5EF4-FFF2-40B4-BE49-F238E27FC236}">
                <a16:creationId xmlns:a16="http://schemas.microsoft.com/office/drawing/2014/main" id="{85190631-22EA-45DD-B04E-D129161E5217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4"/>
            </p:custDataLst>
          </p:nvPr>
        </p:nvSpPr>
        <p:spPr>
          <a:xfrm>
            <a:off x="6145200" y="1847850"/>
            <a:ext cx="2745600" cy="412538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83">
            <a:extLst>
              <a:ext uri="{FF2B5EF4-FFF2-40B4-BE49-F238E27FC236}">
                <a16:creationId xmlns:a16="http://schemas.microsoft.com/office/drawing/2014/main" id="{3D8159EB-6E91-479C-96D3-726897DB9B69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>
          <a:xfrm>
            <a:off x="8990400" y="1847851"/>
            <a:ext cx="2745600" cy="4125381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90A3F-8260-453F-A219-54B1052994A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FooterBox"/>
          <p:cNvSpPr txBox="1"/>
          <p:nvPr userDrawn="1">
            <p:custDataLst>
              <p:tags r:id="rId7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388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Key fact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4FEA6-8883-454D-A222-2BFF12073A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E3055F-9448-4738-A8D6-D0DAA15AD90C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4723203" y="2057400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1" name="Text Placeholder 71">
            <a:extLst>
              <a:ext uri="{FF2B5EF4-FFF2-40B4-BE49-F238E27FC236}">
                <a16:creationId xmlns:a16="http://schemas.microsoft.com/office/drawing/2014/main" id="{24E5B614-174E-4CF2-92F9-784186108D79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1430583" y="2057400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2" name="Text Placeholder 72">
            <a:extLst>
              <a:ext uri="{FF2B5EF4-FFF2-40B4-BE49-F238E27FC236}">
                <a16:creationId xmlns:a16="http://schemas.microsoft.com/office/drawing/2014/main" id="{B4DD2D72-0E03-47F6-ABAE-4149AA7C4B24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8015817" y="2057400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CB15E09-D2E6-49D3-97F9-E76AD2BC9498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FooterBox"/>
          <p:cNvSpPr txBox="1"/>
          <p:nvPr userDrawn="1">
            <p:custDataLst>
              <p:tags r:id="rId6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196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Key facts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4FEA6-8883-454D-A222-2BFF12073A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E3055F-9448-4738-A8D6-D0DAA15AD90C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3300800" y="2057400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1" name="Text Placeholder 71">
            <a:extLst>
              <a:ext uri="{FF2B5EF4-FFF2-40B4-BE49-F238E27FC236}">
                <a16:creationId xmlns:a16="http://schemas.microsoft.com/office/drawing/2014/main" id="{24E5B614-174E-4CF2-92F9-784186108D79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6000" y="2057400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2" name="Text Placeholder 72">
            <a:extLst>
              <a:ext uri="{FF2B5EF4-FFF2-40B4-BE49-F238E27FC236}">
                <a16:creationId xmlns:a16="http://schemas.microsoft.com/office/drawing/2014/main" id="{B4DD2D72-0E03-47F6-ABAE-4149AA7C4B24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6145600" y="2057400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9" name="Text Placeholder 73">
            <a:extLst>
              <a:ext uri="{FF2B5EF4-FFF2-40B4-BE49-F238E27FC236}">
                <a16:creationId xmlns:a16="http://schemas.microsoft.com/office/drawing/2014/main" id="{B6C34EE2-FF37-4D33-B721-64438C8F7E49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8990400" y="2057400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CECB4D-233F-4D57-9063-9E7F54FB472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FooterBox"/>
          <p:cNvSpPr txBox="1"/>
          <p:nvPr userDrawn="1">
            <p:custDataLst>
              <p:tags r:id="rId7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909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Key facts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4FEA6-8883-454D-A222-2BFF12073A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E3055F-9448-4738-A8D6-D0DAA15AD90C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4723200" y="452967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1" name="Text Placeholder 71">
            <a:extLst>
              <a:ext uri="{FF2B5EF4-FFF2-40B4-BE49-F238E27FC236}">
                <a16:creationId xmlns:a16="http://schemas.microsoft.com/office/drawing/2014/main" id="{24E5B614-174E-4CF2-92F9-784186108D79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1875368" y="452967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2" name="Text Placeholder 72">
            <a:extLst>
              <a:ext uri="{FF2B5EF4-FFF2-40B4-BE49-F238E27FC236}">
                <a16:creationId xmlns:a16="http://schemas.microsoft.com/office/drawing/2014/main" id="{B4DD2D72-0E03-47F6-ABAE-4149AA7C4B24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7571033" y="452967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9" name="Text Placeholder 73">
            <a:extLst>
              <a:ext uri="{FF2B5EF4-FFF2-40B4-BE49-F238E27FC236}">
                <a16:creationId xmlns:a16="http://schemas.microsoft.com/office/drawing/2014/main" id="{B6C34EE2-FF37-4D33-B721-64438C8F7E49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303833" y="3196167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0" name="Text Placeholder 74">
            <a:extLst>
              <a:ext uri="{FF2B5EF4-FFF2-40B4-BE49-F238E27FC236}">
                <a16:creationId xmlns:a16="http://schemas.microsoft.com/office/drawing/2014/main" id="{DB1321C2-520B-4EA2-AF61-2C161632528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6148633" y="3196167"/>
            <a:ext cx="2745600" cy="2743200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3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13" name="FooterBox"/>
          <p:cNvSpPr txBox="1"/>
          <p:nvPr userDrawn="1">
            <p:custDataLst>
              <p:tags r:id="rId7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4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Key facts x3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D690-6E87-4FE4-9E4F-1D19BD2A2E2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E233EC-FC67-4019-8142-67654FFAED23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456000" y="3640666"/>
            <a:ext cx="3688432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1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101">
            <a:extLst>
              <a:ext uri="{FF2B5EF4-FFF2-40B4-BE49-F238E27FC236}">
                <a16:creationId xmlns:a16="http://schemas.microsoft.com/office/drawing/2014/main" id="{5FDDA890-104C-40D7-B81F-CD5B937EE816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>
          <a:xfrm>
            <a:off x="4250267" y="3640666"/>
            <a:ext cx="3688431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1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102">
            <a:extLst>
              <a:ext uri="{FF2B5EF4-FFF2-40B4-BE49-F238E27FC236}">
                <a16:creationId xmlns:a16="http://schemas.microsoft.com/office/drawing/2014/main" id="{72A96B3B-562D-43AD-B4FE-B66AB50276F5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4"/>
            </p:custDataLst>
          </p:nvPr>
        </p:nvSpPr>
        <p:spPr>
          <a:xfrm>
            <a:off x="8047567" y="3640666"/>
            <a:ext cx="3689351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1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B982029-3BD5-448F-BB9E-009C516863E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456000" y="1847851"/>
            <a:ext cx="4080000" cy="1368000"/>
          </a:xfrm>
          <a:prstGeom prst="chevron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7FC4FFC1-DC72-4873-A063-C28F746046A0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4056000" y="1847851"/>
            <a:ext cx="4080000" cy="1368000"/>
          </a:xfrm>
          <a:prstGeom prst="chevron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26" name="Text Placeholder 74">
            <a:extLst>
              <a:ext uri="{FF2B5EF4-FFF2-40B4-BE49-F238E27FC236}">
                <a16:creationId xmlns:a16="http://schemas.microsoft.com/office/drawing/2014/main" id="{9A46E8ED-B0A1-4DF6-87DE-AC27E2297C4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7"/>
            </p:custDataLst>
          </p:nvPr>
        </p:nvSpPr>
        <p:spPr>
          <a:xfrm>
            <a:off x="7656000" y="1847851"/>
            <a:ext cx="4080000" cy="1368000"/>
          </a:xfrm>
          <a:prstGeom prst="chevron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2pPr>
            <a:lvl3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4pPr>
            <a:lvl5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5pPr>
            <a:lvl6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6pPr>
            <a:lvl7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7pPr>
            <a:lvl8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8pPr>
            <a:lvl9pPr marL="0" indent="0" algn="ctr">
              <a:spcBef>
                <a:spcPts val="800"/>
              </a:spcBef>
              <a:buNone/>
              <a:defRPr sz="2667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/>
              <a:t>Key fact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E292A-1EA6-4C7C-8338-A53666EFD8FA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FooterBox"/>
          <p:cNvSpPr txBox="1"/>
          <p:nvPr userDrawn="1">
            <p:custDataLst>
              <p:tags r:id="rId9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199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tatements x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D690-6E87-4FE4-9E4F-1D19BD2A2E2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6EC3868-2347-49FD-8F50-67386693607E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2"/>
            </p:custDataLst>
          </p:nvPr>
        </p:nvSpPr>
        <p:spPr>
          <a:xfrm>
            <a:off x="2086700" y="1843619"/>
            <a:ext cx="1440000" cy="1440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E233EC-FC67-4019-8142-67654FFAED23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3"/>
            </p:custDataLst>
          </p:nvPr>
        </p:nvSpPr>
        <p:spPr>
          <a:xfrm>
            <a:off x="1437218" y="3640666"/>
            <a:ext cx="2738967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101">
            <a:extLst>
              <a:ext uri="{FF2B5EF4-FFF2-40B4-BE49-F238E27FC236}">
                <a16:creationId xmlns:a16="http://schemas.microsoft.com/office/drawing/2014/main" id="{5FDDA890-104C-40D7-B81F-CD5B937EE816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>
          <a:xfrm>
            <a:off x="4726517" y="3640666"/>
            <a:ext cx="2738967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102">
            <a:extLst>
              <a:ext uri="{FF2B5EF4-FFF2-40B4-BE49-F238E27FC236}">
                <a16:creationId xmlns:a16="http://schemas.microsoft.com/office/drawing/2014/main" id="{72A96B3B-562D-43AD-B4FE-B66AB50276F5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5"/>
            </p:custDataLst>
          </p:nvPr>
        </p:nvSpPr>
        <p:spPr>
          <a:xfrm>
            <a:off x="8015819" y="3640666"/>
            <a:ext cx="2738967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Picture Placeholder 83">
            <a:extLst>
              <a:ext uri="{FF2B5EF4-FFF2-40B4-BE49-F238E27FC236}">
                <a16:creationId xmlns:a16="http://schemas.microsoft.com/office/drawing/2014/main" id="{7691E321-9BC5-4DDA-B91E-E70FD57A72AC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6"/>
            </p:custDataLst>
          </p:nvPr>
        </p:nvSpPr>
        <p:spPr>
          <a:xfrm>
            <a:off x="5375999" y="1843619"/>
            <a:ext cx="1440000" cy="1440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5" name="Picture Placeholder 84">
            <a:extLst>
              <a:ext uri="{FF2B5EF4-FFF2-40B4-BE49-F238E27FC236}">
                <a16:creationId xmlns:a16="http://schemas.microsoft.com/office/drawing/2014/main" id="{EACDE969-5C38-408A-B09F-5D5AF73E232B}"/>
              </a:ext>
            </a:extLst>
          </p:cNvPr>
          <p:cNvSpPr>
            <a:spLocks noGrp="1"/>
          </p:cNvSpPr>
          <p:nvPr>
            <p:ph type="pic" sz="quarter" idx="18" hasCustomPrompt="1"/>
            <p:custDataLst>
              <p:tags r:id="rId7"/>
            </p:custDataLst>
          </p:nvPr>
        </p:nvSpPr>
        <p:spPr>
          <a:xfrm>
            <a:off x="8665301" y="1843619"/>
            <a:ext cx="1440000" cy="1440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87FA867-83E4-472C-8299-FDC3F8152767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7" name="FooterBox"/>
          <p:cNvSpPr txBox="1"/>
          <p:nvPr userDrawn="1">
            <p:custDataLst>
              <p:tags r:id="rId9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321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tatements x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D690-6E87-4FE4-9E4F-1D19BD2A2E2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6EC3868-2347-49FD-8F50-67386693607E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2"/>
            </p:custDataLst>
          </p:nvPr>
        </p:nvSpPr>
        <p:spPr>
          <a:xfrm>
            <a:off x="1105483" y="1843619"/>
            <a:ext cx="1440000" cy="1440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E233EC-FC67-4019-8142-67654FFAED23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3"/>
            </p:custDataLst>
          </p:nvPr>
        </p:nvSpPr>
        <p:spPr>
          <a:xfrm>
            <a:off x="456001" y="3640666"/>
            <a:ext cx="2738967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101">
            <a:extLst>
              <a:ext uri="{FF2B5EF4-FFF2-40B4-BE49-F238E27FC236}">
                <a16:creationId xmlns:a16="http://schemas.microsoft.com/office/drawing/2014/main" id="{5FDDA890-104C-40D7-B81F-CD5B937EE816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>
          <a:xfrm>
            <a:off x="3303011" y="3640666"/>
            <a:ext cx="2738967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102">
            <a:extLst>
              <a:ext uri="{FF2B5EF4-FFF2-40B4-BE49-F238E27FC236}">
                <a16:creationId xmlns:a16="http://schemas.microsoft.com/office/drawing/2014/main" id="{72A96B3B-562D-43AD-B4FE-B66AB50276F5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5"/>
            </p:custDataLst>
          </p:nvPr>
        </p:nvSpPr>
        <p:spPr>
          <a:xfrm>
            <a:off x="6150022" y="3640666"/>
            <a:ext cx="2738967" cy="2332567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Picture Placeholder 83">
            <a:extLst>
              <a:ext uri="{FF2B5EF4-FFF2-40B4-BE49-F238E27FC236}">
                <a16:creationId xmlns:a16="http://schemas.microsoft.com/office/drawing/2014/main" id="{7691E321-9BC5-4DDA-B91E-E70FD57A72AC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6"/>
            </p:custDataLst>
          </p:nvPr>
        </p:nvSpPr>
        <p:spPr>
          <a:xfrm>
            <a:off x="3952493" y="1843619"/>
            <a:ext cx="1440000" cy="1440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5" name="Picture Placeholder 84">
            <a:extLst>
              <a:ext uri="{FF2B5EF4-FFF2-40B4-BE49-F238E27FC236}">
                <a16:creationId xmlns:a16="http://schemas.microsoft.com/office/drawing/2014/main" id="{EACDE969-5C38-408A-B09F-5D5AF73E232B}"/>
              </a:ext>
            </a:extLst>
          </p:cNvPr>
          <p:cNvSpPr>
            <a:spLocks noGrp="1"/>
          </p:cNvSpPr>
          <p:nvPr>
            <p:ph type="pic" sz="quarter" idx="18" hasCustomPrompt="1"/>
            <p:custDataLst>
              <p:tags r:id="rId7"/>
            </p:custDataLst>
          </p:nvPr>
        </p:nvSpPr>
        <p:spPr>
          <a:xfrm>
            <a:off x="6799504" y="1843619"/>
            <a:ext cx="1440000" cy="1440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6" name="Text Placeholder 105">
            <a:extLst>
              <a:ext uri="{FF2B5EF4-FFF2-40B4-BE49-F238E27FC236}">
                <a16:creationId xmlns:a16="http://schemas.microsoft.com/office/drawing/2014/main" id="{5B2BD9F5-C207-4B3D-A38A-791D1C35D9FD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8"/>
            </p:custDataLst>
          </p:nvPr>
        </p:nvSpPr>
        <p:spPr>
          <a:xfrm>
            <a:off x="8997034" y="3640667"/>
            <a:ext cx="2738967" cy="2296584"/>
          </a:xfrm>
        </p:spPr>
        <p:txBody>
          <a:bodyPr>
            <a:noAutofit/>
          </a:bodyPr>
          <a:lstStyle>
            <a:lvl1pPr marL="0" indent="0" algn="ctr">
              <a:buNone/>
              <a:defRPr sz="1867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333">
                <a:latin typeface="+mn-lt"/>
              </a:defRPr>
            </a:lvl2pPr>
            <a:lvl3pPr marL="0" indent="0" algn="ctr">
              <a:buNone/>
              <a:defRPr sz="1333">
                <a:latin typeface="+mn-lt"/>
              </a:defRPr>
            </a:lvl3pPr>
            <a:lvl4pPr marL="0" indent="0" algn="ctr">
              <a:buNone/>
              <a:defRPr sz="1333">
                <a:latin typeface="+mn-lt"/>
              </a:defRPr>
            </a:lvl4pPr>
            <a:lvl5pPr marL="0" indent="0" algn="ctr">
              <a:buNone/>
              <a:defRPr sz="1333">
                <a:latin typeface="+mn-lt"/>
              </a:defRPr>
            </a:lvl5pPr>
            <a:lvl6pPr marL="0" indent="0" algn="ctr">
              <a:buNone/>
              <a:defRPr sz="1333">
                <a:latin typeface="+mn-lt"/>
              </a:defRPr>
            </a:lvl6pPr>
            <a:lvl7pPr marL="0" indent="0" algn="ctr">
              <a:buNone/>
              <a:defRPr sz="1333">
                <a:latin typeface="+mn-lt"/>
              </a:defRPr>
            </a:lvl7pPr>
            <a:lvl8pPr marL="0" indent="0" algn="ctr">
              <a:buNone/>
              <a:defRPr sz="1333">
                <a:latin typeface="+mn-lt"/>
              </a:defRPr>
            </a:lvl8pPr>
            <a:lvl9pPr marL="0" indent="0" algn="ctr">
              <a:buNone/>
              <a:defRPr sz="1333">
                <a:latin typeface="+mn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Picture Placeholder 86">
            <a:extLst>
              <a:ext uri="{FF2B5EF4-FFF2-40B4-BE49-F238E27FC236}">
                <a16:creationId xmlns:a16="http://schemas.microsoft.com/office/drawing/2014/main" id="{286FE8B4-1797-4473-8E68-0A9BD9F03A76}"/>
              </a:ext>
            </a:extLst>
          </p:cNvPr>
          <p:cNvSpPr>
            <a:spLocks noGrp="1"/>
          </p:cNvSpPr>
          <p:nvPr>
            <p:ph type="pic" sz="quarter" idx="20" hasCustomPrompt="1"/>
            <p:custDataLst>
              <p:tags r:id="rId9"/>
            </p:custDataLst>
          </p:nvPr>
        </p:nvSpPr>
        <p:spPr>
          <a:xfrm>
            <a:off x="9646516" y="1843619"/>
            <a:ext cx="1440000" cy="1440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038FC5-FD66-457A-869D-5AC9CAFD0AE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8" name="FooterBox"/>
          <p:cNvSpPr txBox="1"/>
          <p:nvPr userDrawn="1">
            <p:custDataLst>
              <p:tags r:id="rId11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51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tatemen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D9FF4-8C7C-4168-A02A-8E7886EBEAE7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7E6904-D487-4477-A9F4-0708D47A3F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99117" y="1039285"/>
            <a:ext cx="9384000" cy="679833"/>
          </a:xfrm>
        </p:spPr>
        <p:txBody>
          <a:bodyPr anchor="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C7D84D6-24A4-437A-8464-4BB82FBB4AF5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3"/>
            </p:custDataLst>
          </p:nvPr>
        </p:nvSpPr>
        <p:spPr>
          <a:xfrm>
            <a:off x="1399117" y="1847851"/>
            <a:ext cx="9384000" cy="3393016"/>
          </a:xfrm>
        </p:spPr>
        <p:txBody>
          <a:bodyPr>
            <a:noAutofit/>
          </a:bodyPr>
          <a:lstStyle>
            <a:lvl1pPr>
              <a:defRPr sz="2133">
                <a:latin typeface="+mj-lt"/>
              </a:defRPr>
            </a:lvl1pPr>
            <a:lvl2pPr>
              <a:defRPr sz="1867">
                <a:latin typeface="+mj-lt"/>
              </a:defRPr>
            </a:lvl2pPr>
            <a:lvl3pPr>
              <a:defRPr sz="1867">
                <a:latin typeface="+mj-lt"/>
              </a:defRPr>
            </a:lvl3pPr>
            <a:lvl4pPr>
              <a:defRPr sz="1867">
                <a:latin typeface="+mj-lt"/>
              </a:defRPr>
            </a:lvl4pPr>
            <a:lvl5pPr>
              <a:defRPr sz="1867">
                <a:latin typeface="+mj-lt"/>
              </a:defRPr>
            </a:lvl5pPr>
            <a:lvl6pPr>
              <a:defRPr sz="1867">
                <a:latin typeface="+mj-lt"/>
              </a:defRPr>
            </a:lvl6pPr>
            <a:lvl7pPr>
              <a:defRPr sz="1867">
                <a:latin typeface="+mj-lt"/>
              </a:defRPr>
            </a:lvl7pPr>
            <a:lvl8pPr>
              <a:defRPr sz="1867">
                <a:latin typeface="+mj-lt"/>
              </a:defRPr>
            </a:lvl8pPr>
            <a:lvl9pPr>
              <a:defRPr sz="1867">
                <a:latin typeface="+mj-l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FooterBox"/>
          <p:cNvSpPr txBox="1"/>
          <p:nvPr userDrawn="1">
            <p:custDataLst>
              <p:tags r:id="rId4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78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0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tandard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75354-7C5F-4C85-9DDD-643860F96C4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D26620F-23E4-4F72-B94C-6C44B8168EB2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2"/>
            </p:custDataLst>
          </p:nvPr>
        </p:nvSpPr>
        <p:spPr>
          <a:xfrm>
            <a:off x="6146801" y="1847851"/>
            <a:ext cx="1790700" cy="1790700"/>
          </a:xfrm>
          <a:prstGeom prst="ellipse">
            <a:avLst/>
          </a:prstGeom>
          <a:noFill/>
          <a:ln w="12700">
            <a:solidFill>
              <a:schemeClr val="bg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 sz="1333"/>
            </a:lvl1pPr>
          </a:lstStyle>
          <a:p>
            <a:r>
              <a:rPr lang="en-US"/>
              <a:t>Paste CV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A1ABDD-D876-4691-AF77-510FB7294688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8039100" y="3337984"/>
            <a:ext cx="3696000" cy="2635249"/>
          </a:xfrm>
        </p:spPr>
        <p:txBody>
          <a:bodyPr/>
          <a:lstStyle>
            <a:lvl1pPr marL="0" indent="0">
              <a:buNone/>
              <a:defRPr sz="1333"/>
            </a:lvl1pPr>
            <a:lvl2pPr marL="0" indent="0">
              <a:buNone/>
              <a:defRPr sz="1333"/>
            </a:lvl2pPr>
            <a:lvl3pPr marL="0" indent="0">
              <a:buNone/>
              <a:defRPr sz="1333"/>
            </a:lvl3pPr>
            <a:lvl4pPr marL="0" indent="0">
              <a:buNone/>
              <a:defRPr sz="1333"/>
            </a:lvl4pPr>
            <a:lvl5pPr marL="0" indent="0">
              <a:buNone/>
              <a:defRPr sz="1333"/>
            </a:lvl5pPr>
            <a:lvl6pPr marL="0" indent="0">
              <a:buNone/>
              <a:defRPr sz="1333"/>
            </a:lvl6pPr>
            <a:lvl7pPr marL="0" indent="0">
              <a:buNone/>
              <a:defRPr sz="1333"/>
            </a:lvl7pPr>
            <a:lvl8pPr marL="0" indent="0">
              <a:buNone/>
              <a:defRPr sz="1333"/>
            </a:lvl8pPr>
            <a:lvl9pPr marL="0" indent="0">
              <a:buNone/>
              <a:defRPr sz="1333"/>
            </a:lvl9pPr>
          </a:lstStyle>
          <a:p>
            <a:pPr lvl="0"/>
            <a:r>
              <a:rPr lang="en-GB"/>
              <a:t>Bio text here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8" name="Text Placeholder 121">
            <a:extLst>
              <a:ext uri="{FF2B5EF4-FFF2-40B4-BE49-F238E27FC236}">
                <a16:creationId xmlns:a16="http://schemas.microsoft.com/office/drawing/2014/main" id="{E94DE87B-EF78-4280-B268-95AD50B0F07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8039100" y="2674229"/>
            <a:ext cx="3696000" cy="4103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b="1"/>
            </a:lvl1pPr>
            <a:lvl2pPr marL="0" indent="0">
              <a:spcBef>
                <a:spcPts val="0"/>
              </a:spcBef>
              <a:buNone/>
              <a:defRPr sz="1333"/>
            </a:lvl2pPr>
            <a:lvl3pPr marL="0" indent="0">
              <a:spcBef>
                <a:spcPts val="0"/>
              </a:spcBef>
              <a:buNone/>
              <a:defRPr sz="1333"/>
            </a:lvl3pPr>
            <a:lvl4pPr marL="0" indent="0">
              <a:spcBef>
                <a:spcPts val="0"/>
              </a:spcBef>
              <a:buNone/>
              <a:defRPr sz="1333"/>
            </a:lvl4pPr>
            <a:lvl5pPr marL="0" indent="0">
              <a:spcBef>
                <a:spcPts val="0"/>
              </a:spcBef>
              <a:buNone/>
              <a:defRPr sz="1333"/>
            </a:lvl5pPr>
            <a:lvl6pPr marL="0" indent="0">
              <a:spcBef>
                <a:spcPts val="0"/>
              </a:spcBef>
              <a:buNone/>
              <a:defRPr sz="1333"/>
            </a:lvl6pPr>
            <a:lvl7pPr marL="0" indent="0">
              <a:spcBef>
                <a:spcPts val="0"/>
              </a:spcBef>
              <a:buNone/>
              <a:defRPr sz="1333"/>
            </a:lvl7pPr>
            <a:lvl8pPr marL="0" indent="0">
              <a:spcBef>
                <a:spcPts val="0"/>
              </a:spcBef>
              <a:buNone/>
              <a:defRPr sz="1333"/>
            </a:lvl8pPr>
            <a:lvl9pPr marL="0" indent="0">
              <a:spcBef>
                <a:spcPts val="0"/>
              </a:spcBef>
              <a:buNone/>
              <a:defRPr sz="1333"/>
            </a:lvl9pPr>
          </a:lstStyle>
          <a:p>
            <a:pPr lvl="0"/>
            <a:r>
              <a:rPr lang="en-GB"/>
              <a:t>Job title</a:t>
            </a:r>
          </a:p>
          <a:p>
            <a:pPr lvl="1"/>
            <a:r>
              <a:rPr lang="en-GB"/>
              <a:t>Legal entity</a:t>
            </a:r>
          </a:p>
        </p:txBody>
      </p:sp>
      <p:sp>
        <p:nvSpPr>
          <p:cNvPr id="19" name="Text Placeholder 122">
            <a:extLst>
              <a:ext uri="{FF2B5EF4-FFF2-40B4-BE49-F238E27FC236}">
                <a16:creationId xmlns:a16="http://schemas.microsoft.com/office/drawing/2014/main" id="{3C6C0434-AD0D-4006-B328-AB5C0EC9D711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8039100" y="2327745"/>
            <a:ext cx="3696000" cy="287259"/>
          </a:xfrm>
        </p:spPr>
        <p:txBody>
          <a:bodyPr anchor="b">
            <a:noAutofit/>
          </a:bodyPr>
          <a:lstStyle>
            <a:lvl1pPr marL="0" indent="0">
              <a:buNone/>
              <a:defRPr sz="1867" b="1">
                <a:solidFill>
                  <a:schemeClr val="tx2"/>
                </a:solidFill>
              </a:defRPr>
            </a:lvl1pPr>
            <a:lvl2pPr marL="0" indent="0">
              <a:buNone/>
              <a:defRPr sz="1867" b="1">
                <a:solidFill>
                  <a:schemeClr val="tx2"/>
                </a:solidFill>
              </a:defRPr>
            </a:lvl2pPr>
            <a:lvl3pPr marL="0" indent="0">
              <a:buNone/>
              <a:defRPr sz="1867" b="1">
                <a:solidFill>
                  <a:schemeClr val="tx2"/>
                </a:solidFill>
              </a:defRPr>
            </a:lvl3pPr>
            <a:lvl4pPr marL="0" indent="0">
              <a:buNone/>
              <a:defRPr sz="1867" b="1">
                <a:solidFill>
                  <a:schemeClr val="tx2"/>
                </a:solidFill>
              </a:defRPr>
            </a:lvl4pPr>
            <a:lvl5pPr marL="0" indent="0">
              <a:buNone/>
              <a:defRPr sz="1867" b="1">
                <a:solidFill>
                  <a:schemeClr val="tx2"/>
                </a:solidFill>
              </a:defRPr>
            </a:lvl5pPr>
            <a:lvl6pPr marL="0" indent="0">
              <a:buNone/>
              <a:defRPr sz="1867" b="1">
                <a:solidFill>
                  <a:schemeClr val="tx2"/>
                </a:solidFill>
              </a:defRPr>
            </a:lvl6pPr>
            <a:lvl7pPr marL="0" indent="0">
              <a:buNone/>
              <a:defRPr sz="1867" b="1">
                <a:solidFill>
                  <a:schemeClr val="tx2"/>
                </a:solidFill>
              </a:defRPr>
            </a:lvl7pPr>
            <a:lvl8pPr marL="0" indent="0">
              <a:buNone/>
              <a:defRPr sz="1867" b="1">
                <a:solidFill>
                  <a:schemeClr val="tx2"/>
                </a:solidFill>
              </a:defRPr>
            </a:lvl8pPr>
            <a:lvl9pPr marL="0" indent="0">
              <a:buNone/>
              <a:defRPr sz="1867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0" name="Picture Placeholder 103">
            <a:extLst>
              <a:ext uri="{FF2B5EF4-FFF2-40B4-BE49-F238E27FC236}">
                <a16:creationId xmlns:a16="http://schemas.microsoft.com/office/drawing/2014/main" id="{AF0176EB-93C3-436D-BC41-7FD82BBA4A26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6"/>
            </p:custDataLst>
          </p:nvPr>
        </p:nvSpPr>
        <p:spPr>
          <a:xfrm>
            <a:off x="456001" y="1847851"/>
            <a:ext cx="1790700" cy="1790700"/>
          </a:xfrm>
          <a:prstGeom prst="ellipse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 sz="1333"/>
            </a:lvl1pPr>
          </a:lstStyle>
          <a:p>
            <a:r>
              <a:rPr lang="en-US"/>
              <a:t>Paste CV picture</a:t>
            </a:r>
            <a:endParaRPr lang="en-GB"/>
          </a:p>
        </p:txBody>
      </p:sp>
      <p:sp>
        <p:nvSpPr>
          <p:cNvPr id="21" name="Text Placeholder 124">
            <a:extLst>
              <a:ext uri="{FF2B5EF4-FFF2-40B4-BE49-F238E27FC236}">
                <a16:creationId xmlns:a16="http://schemas.microsoft.com/office/drawing/2014/main" id="{7412D77A-940F-4C33-B400-E7981952BD14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7"/>
            </p:custDataLst>
          </p:nvPr>
        </p:nvSpPr>
        <p:spPr>
          <a:xfrm>
            <a:off x="2351617" y="3337984"/>
            <a:ext cx="3696000" cy="2635249"/>
          </a:xfrm>
        </p:spPr>
        <p:txBody>
          <a:bodyPr/>
          <a:lstStyle>
            <a:lvl1pPr marL="0" indent="0">
              <a:buNone/>
              <a:defRPr sz="1333"/>
            </a:lvl1pPr>
            <a:lvl2pPr marL="0" indent="0">
              <a:buNone/>
              <a:defRPr sz="1333"/>
            </a:lvl2pPr>
            <a:lvl3pPr marL="0" indent="0">
              <a:buNone/>
              <a:defRPr sz="1333"/>
            </a:lvl3pPr>
            <a:lvl4pPr marL="0" indent="0">
              <a:buNone/>
              <a:defRPr sz="1333"/>
            </a:lvl4pPr>
            <a:lvl5pPr marL="0" indent="0">
              <a:buNone/>
              <a:defRPr sz="1333"/>
            </a:lvl5pPr>
            <a:lvl6pPr marL="0" indent="0">
              <a:buNone/>
              <a:defRPr sz="1333"/>
            </a:lvl6pPr>
            <a:lvl7pPr marL="0" indent="0">
              <a:buNone/>
              <a:defRPr sz="1333"/>
            </a:lvl7pPr>
            <a:lvl8pPr marL="0" indent="0">
              <a:buNone/>
              <a:defRPr sz="1333"/>
            </a:lvl8pPr>
            <a:lvl9pPr marL="0" indent="0">
              <a:buNone/>
              <a:defRPr sz="1333"/>
            </a:lvl9pPr>
          </a:lstStyle>
          <a:p>
            <a:pPr lvl="0"/>
            <a:r>
              <a:rPr lang="en-GB"/>
              <a:t>Bio text here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89B89FF5-A341-4614-AB8D-013522B0093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8"/>
            </p:custDataLst>
          </p:nvPr>
        </p:nvSpPr>
        <p:spPr>
          <a:xfrm>
            <a:off x="2351617" y="2674229"/>
            <a:ext cx="3696000" cy="4103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b="1"/>
            </a:lvl1pPr>
            <a:lvl2pPr marL="0" indent="0">
              <a:spcBef>
                <a:spcPts val="0"/>
              </a:spcBef>
              <a:buNone/>
              <a:defRPr sz="1333"/>
            </a:lvl2pPr>
            <a:lvl3pPr marL="0" indent="0">
              <a:spcBef>
                <a:spcPts val="0"/>
              </a:spcBef>
              <a:buNone/>
              <a:defRPr sz="1333"/>
            </a:lvl3pPr>
            <a:lvl4pPr marL="0" indent="0">
              <a:spcBef>
                <a:spcPts val="0"/>
              </a:spcBef>
              <a:buNone/>
              <a:defRPr sz="1333"/>
            </a:lvl4pPr>
            <a:lvl5pPr marL="0" indent="0">
              <a:spcBef>
                <a:spcPts val="0"/>
              </a:spcBef>
              <a:buNone/>
              <a:defRPr sz="1333"/>
            </a:lvl5pPr>
            <a:lvl6pPr marL="0" indent="0">
              <a:spcBef>
                <a:spcPts val="0"/>
              </a:spcBef>
              <a:buNone/>
              <a:defRPr sz="1333"/>
            </a:lvl6pPr>
            <a:lvl7pPr marL="0" indent="0">
              <a:spcBef>
                <a:spcPts val="0"/>
              </a:spcBef>
              <a:buNone/>
              <a:defRPr sz="1333"/>
            </a:lvl7pPr>
            <a:lvl8pPr marL="0" indent="0">
              <a:spcBef>
                <a:spcPts val="0"/>
              </a:spcBef>
              <a:buNone/>
              <a:defRPr sz="1333"/>
            </a:lvl8pPr>
            <a:lvl9pPr marL="0" indent="0">
              <a:spcBef>
                <a:spcPts val="0"/>
              </a:spcBef>
              <a:buNone/>
              <a:defRPr sz="1333"/>
            </a:lvl9pPr>
          </a:lstStyle>
          <a:p>
            <a:pPr lvl="0"/>
            <a:r>
              <a:rPr lang="en-GB"/>
              <a:t>Job title</a:t>
            </a:r>
          </a:p>
          <a:p>
            <a:pPr lvl="1"/>
            <a:r>
              <a:rPr lang="en-GB"/>
              <a:t>Legal entity</a:t>
            </a:r>
          </a:p>
        </p:txBody>
      </p:sp>
      <p:sp>
        <p:nvSpPr>
          <p:cNvPr id="23" name="Text Placeholder 126">
            <a:extLst>
              <a:ext uri="{FF2B5EF4-FFF2-40B4-BE49-F238E27FC236}">
                <a16:creationId xmlns:a16="http://schemas.microsoft.com/office/drawing/2014/main" id="{AB48CFE6-FEC3-48AF-9F51-7D1A77A89FFA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9"/>
            </p:custDataLst>
          </p:nvPr>
        </p:nvSpPr>
        <p:spPr>
          <a:xfrm>
            <a:off x="2351617" y="2327745"/>
            <a:ext cx="3696000" cy="287259"/>
          </a:xfrm>
        </p:spPr>
        <p:txBody>
          <a:bodyPr anchor="b">
            <a:noAutofit/>
          </a:bodyPr>
          <a:lstStyle>
            <a:lvl1pPr marL="0" indent="0">
              <a:buNone/>
              <a:defRPr sz="1867" b="1">
                <a:solidFill>
                  <a:schemeClr val="tx2"/>
                </a:solidFill>
              </a:defRPr>
            </a:lvl1pPr>
            <a:lvl2pPr marL="0" indent="0">
              <a:buNone/>
              <a:defRPr sz="1867" b="1">
                <a:solidFill>
                  <a:schemeClr val="tx2"/>
                </a:solidFill>
              </a:defRPr>
            </a:lvl2pPr>
            <a:lvl3pPr marL="0" indent="0">
              <a:buNone/>
              <a:defRPr sz="1867" b="1">
                <a:solidFill>
                  <a:schemeClr val="tx2"/>
                </a:solidFill>
              </a:defRPr>
            </a:lvl3pPr>
            <a:lvl4pPr marL="0" indent="0">
              <a:buNone/>
              <a:defRPr sz="1867" b="1">
                <a:solidFill>
                  <a:schemeClr val="tx2"/>
                </a:solidFill>
              </a:defRPr>
            </a:lvl4pPr>
            <a:lvl5pPr marL="0" indent="0">
              <a:buNone/>
              <a:defRPr sz="1867" b="1">
                <a:solidFill>
                  <a:schemeClr val="tx2"/>
                </a:solidFill>
              </a:defRPr>
            </a:lvl5pPr>
            <a:lvl6pPr marL="0" indent="0">
              <a:buNone/>
              <a:defRPr sz="1867" b="1">
                <a:solidFill>
                  <a:schemeClr val="tx2"/>
                </a:solidFill>
              </a:defRPr>
            </a:lvl6pPr>
            <a:lvl7pPr marL="0" indent="0">
              <a:buNone/>
              <a:defRPr sz="1867" b="1">
                <a:solidFill>
                  <a:schemeClr val="tx2"/>
                </a:solidFill>
              </a:defRPr>
            </a:lvl7pPr>
            <a:lvl8pPr marL="0" indent="0">
              <a:buNone/>
              <a:defRPr sz="1867" b="1">
                <a:solidFill>
                  <a:schemeClr val="tx2"/>
                </a:solidFill>
              </a:defRPr>
            </a:lvl8pPr>
            <a:lvl9pPr marL="0" indent="0">
              <a:buNone/>
              <a:defRPr sz="1867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A135EDC1-0CF5-41B4-88CD-6AD8454893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FooterBox"/>
          <p:cNvSpPr txBox="1"/>
          <p:nvPr userDrawn="1">
            <p:custDataLst>
              <p:tags r:id="rId11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963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Standard quota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id="{358CC237-A04E-0A41-A53D-4441780F376D}"/>
              </a:ext>
            </a:extLst>
          </p:cNvPr>
          <p:cNvSpPr>
            <a:spLocks noEditPoints="1"/>
          </p:cNvSpPr>
          <p:nvPr userDrawn="1">
            <p:custDataLst>
              <p:tags r:id="rId1"/>
            </p:custDataLst>
          </p:nvPr>
        </p:nvSpPr>
        <p:spPr bwMode="auto">
          <a:xfrm>
            <a:off x="934310" y="1054095"/>
            <a:ext cx="852597" cy="870661"/>
          </a:xfrm>
          <a:custGeom>
            <a:avLst/>
            <a:gdLst>
              <a:gd name="T0" fmla="*/ 200 w 400"/>
              <a:gd name="T1" fmla="*/ 0 h 408"/>
              <a:gd name="T2" fmla="*/ 0 w 400"/>
              <a:gd name="T3" fmla="*/ 204 h 408"/>
              <a:gd name="T4" fmla="*/ 200 w 400"/>
              <a:gd name="T5" fmla="*/ 408 h 408"/>
              <a:gd name="T6" fmla="*/ 400 w 400"/>
              <a:gd name="T7" fmla="*/ 204 h 408"/>
              <a:gd name="T8" fmla="*/ 200 w 400"/>
              <a:gd name="T9" fmla="*/ 0 h 408"/>
              <a:gd name="T10" fmla="*/ 146 w 400"/>
              <a:gd name="T11" fmla="*/ 199 h 408"/>
              <a:gd name="T12" fmla="*/ 161 w 400"/>
              <a:gd name="T13" fmla="*/ 207 h 408"/>
              <a:gd name="T14" fmla="*/ 177 w 400"/>
              <a:gd name="T15" fmla="*/ 217 h 408"/>
              <a:gd name="T16" fmla="*/ 185 w 400"/>
              <a:gd name="T17" fmla="*/ 240 h 408"/>
              <a:gd name="T18" fmla="*/ 173 w 400"/>
              <a:gd name="T19" fmla="*/ 268 h 408"/>
              <a:gd name="T20" fmla="*/ 142 w 400"/>
              <a:gd name="T21" fmla="*/ 280 h 408"/>
              <a:gd name="T22" fmla="*/ 109 w 400"/>
              <a:gd name="T23" fmla="*/ 265 h 408"/>
              <a:gd name="T24" fmla="*/ 96 w 400"/>
              <a:gd name="T25" fmla="*/ 222 h 408"/>
              <a:gd name="T26" fmla="*/ 117 w 400"/>
              <a:gd name="T27" fmla="*/ 163 h 408"/>
              <a:gd name="T28" fmla="*/ 177 w 400"/>
              <a:gd name="T29" fmla="*/ 128 h 408"/>
              <a:gd name="T30" fmla="*/ 190 w 400"/>
              <a:gd name="T31" fmla="*/ 147 h 408"/>
              <a:gd name="T32" fmla="*/ 142 w 400"/>
              <a:gd name="T33" fmla="*/ 188 h 408"/>
              <a:gd name="T34" fmla="*/ 146 w 400"/>
              <a:gd name="T35" fmla="*/ 199 h 408"/>
              <a:gd name="T36" fmla="*/ 262 w 400"/>
              <a:gd name="T37" fmla="*/ 199 h 408"/>
              <a:gd name="T38" fmla="*/ 275 w 400"/>
              <a:gd name="T39" fmla="*/ 207 h 408"/>
              <a:gd name="T40" fmla="*/ 291 w 400"/>
              <a:gd name="T41" fmla="*/ 217 h 408"/>
              <a:gd name="T42" fmla="*/ 298 w 400"/>
              <a:gd name="T43" fmla="*/ 240 h 408"/>
              <a:gd name="T44" fmla="*/ 287 w 400"/>
              <a:gd name="T45" fmla="*/ 268 h 408"/>
              <a:gd name="T46" fmla="*/ 256 w 400"/>
              <a:gd name="T47" fmla="*/ 280 h 408"/>
              <a:gd name="T48" fmla="*/ 223 w 400"/>
              <a:gd name="T49" fmla="*/ 265 h 408"/>
              <a:gd name="T50" fmla="*/ 210 w 400"/>
              <a:gd name="T51" fmla="*/ 222 h 408"/>
              <a:gd name="T52" fmla="*/ 231 w 400"/>
              <a:gd name="T53" fmla="*/ 163 h 408"/>
              <a:gd name="T54" fmla="*/ 291 w 400"/>
              <a:gd name="T55" fmla="*/ 128 h 408"/>
              <a:gd name="T56" fmla="*/ 304 w 400"/>
              <a:gd name="T57" fmla="*/ 147 h 408"/>
              <a:gd name="T58" fmla="*/ 256 w 400"/>
              <a:gd name="T59" fmla="*/ 188 h 408"/>
              <a:gd name="T60" fmla="*/ 262 w 400"/>
              <a:gd name="T61" fmla="*/ 199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00" h="408">
                <a:moveTo>
                  <a:pt x="200" y="0"/>
                </a:moveTo>
                <a:cubicBezTo>
                  <a:pt x="90" y="0"/>
                  <a:pt x="0" y="91"/>
                  <a:pt x="0" y="204"/>
                </a:cubicBezTo>
                <a:cubicBezTo>
                  <a:pt x="0" y="317"/>
                  <a:pt x="90" y="408"/>
                  <a:pt x="200" y="408"/>
                </a:cubicBezTo>
                <a:cubicBezTo>
                  <a:pt x="310" y="408"/>
                  <a:pt x="400" y="317"/>
                  <a:pt x="400" y="204"/>
                </a:cubicBezTo>
                <a:cubicBezTo>
                  <a:pt x="400" y="91"/>
                  <a:pt x="310" y="0"/>
                  <a:pt x="200" y="0"/>
                </a:cubicBezTo>
                <a:close/>
                <a:moveTo>
                  <a:pt x="146" y="199"/>
                </a:moveTo>
                <a:cubicBezTo>
                  <a:pt x="150" y="201"/>
                  <a:pt x="154" y="203"/>
                  <a:pt x="161" y="207"/>
                </a:cubicBezTo>
                <a:cubicBezTo>
                  <a:pt x="167" y="209"/>
                  <a:pt x="171" y="213"/>
                  <a:pt x="177" y="217"/>
                </a:cubicBezTo>
                <a:cubicBezTo>
                  <a:pt x="183" y="222"/>
                  <a:pt x="185" y="230"/>
                  <a:pt x="185" y="240"/>
                </a:cubicBezTo>
                <a:cubicBezTo>
                  <a:pt x="185" y="251"/>
                  <a:pt x="181" y="261"/>
                  <a:pt x="173" y="268"/>
                </a:cubicBezTo>
                <a:cubicBezTo>
                  <a:pt x="165" y="276"/>
                  <a:pt x="156" y="280"/>
                  <a:pt x="142" y="280"/>
                </a:cubicBezTo>
                <a:cubicBezTo>
                  <a:pt x="129" y="280"/>
                  <a:pt x="117" y="274"/>
                  <a:pt x="109" y="265"/>
                </a:cubicBezTo>
                <a:cubicBezTo>
                  <a:pt x="100" y="253"/>
                  <a:pt x="96" y="240"/>
                  <a:pt x="96" y="222"/>
                </a:cubicBezTo>
                <a:cubicBezTo>
                  <a:pt x="96" y="199"/>
                  <a:pt x="102" y="180"/>
                  <a:pt x="117" y="163"/>
                </a:cubicBezTo>
                <a:cubicBezTo>
                  <a:pt x="131" y="145"/>
                  <a:pt x="150" y="134"/>
                  <a:pt x="177" y="128"/>
                </a:cubicBezTo>
                <a:cubicBezTo>
                  <a:pt x="177" y="128"/>
                  <a:pt x="177" y="128"/>
                  <a:pt x="190" y="147"/>
                </a:cubicBezTo>
                <a:cubicBezTo>
                  <a:pt x="160" y="157"/>
                  <a:pt x="142" y="170"/>
                  <a:pt x="142" y="188"/>
                </a:cubicBezTo>
                <a:cubicBezTo>
                  <a:pt x="142" y="193"/>
                  <a:pt x="144" y="197"/>
                  <a:pt x="146" y="199"/>
                </a:cubicBezTo>
                <a:close/>
                <a:moveTo>
                  <a:pt x="262" y="199"/>
                </a:moveTo>
                <a:cubicBezTo>
                  <a:pt x="264" y="201"/>
                  <a:pt x="269" y="203"/>
                  <a:pt x="275" y="207"/>
                </a:cubicBezTo>
                <a:cubicBezTo>
                  <a:pt x="281" y="209"/>
                  <a:pt x="285" y="213"/>
                  <a:pt x="291" y="217"/>
                </a:cubicBezTo>
                <a:cubicBezTo>
                  <a:pt x="296" y="222"/>
                  <a:pt x="298" y="230"/>
                  <a:pt x="298" y="240"/>
                </a:cubicBezTo>
                <a:cubicBezTo>
                  <a:pt x="298" y="251"/>
                  <a:pt x="294" y="261"/>
                  <a:pt x="287" y="268"/>
                </a:cubicBezTo>
                <a:cubicBezTo>
                  <a:pt x="279" y="276"/>
                  <a:pt x="269" y="280"/>
                  <a:pt x="256" y="280"/>
                </a:cubicBezTo>
                <a:cubicBezTo>
                  <a:pt x="242" y="280"/>
                  <a:pt x="231" y="274"/>
                  <a:pt x="223" y="265"/>
                </a:cubicBezTo>
                <a:cubicBezTo>
                  <a:pt x="213" y="253"/>
                  <a:pt x="210" y="240"/>
                  <a:pt x="210" y="222"/>
                </a:cubicBezTo>
                <a:cubicBezTo>
                  <a:pt x="210" y="199"/>
                  <a:pt x="215" y="180"/>
                  <a:pt x="231" y="163"/>
                </a:cubicBezTo>
                <a:cubicBezTo>
                  <a:pt x="244" y="145"/>
                  <a:pt x="265" y="134"/>
                  <a:pt x="291" y="128"/>
                </a:cubicBezTo>
                <a:cubicBezTo>
                  <a:pt x="291" y="128"/>
                  <a:pt x="291" y="128"/>
                  <a:pt x="304" y="147"/>
                </a:cubicBezTo>
                <a:cubicBezTo>
                  <a:pt x="273" y="157"/>
                  <a:pt x="256" y="170"/>
                  <a:pt x="256" y="188"/>
                </a:cubicBezTo>
                <a:cubicBezTo>
                  <a:pt x="256" y="193"/>
                  <a:pt x="258" y="197"/>
                  <a:pt x="262" y="19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10A91-DE2E-4093-80BE-DC026E60A15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2353734" y="1173233"/>
            <a:ext cx="7484533" cy="4800000"/>
          </a:xfrm>
        </p:spPr>
        <p:txBody>
          <a:bodyPr/>
          <a:lstStyle>
            <a:lvl1pPr marL="0" indent="0">
              <a:buNone/>
              <a:defRPr sz="3733" i="1" spc="-133" baseline="0">
                <a:latin typeface="+mj-lt"/>
              </a:defRPr>
            </a:lvl1pPr>
            <a:lvl2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5pPr>
            <a:lvl6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6pPr>
            <a:lvl7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7pPr>
            <a:lvl8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8pPr>
            <a:lvl9pPr marL="0" indent="0">
              <a:spcBef>
                <a:spcPts val="800"/>
              </a:spcBef>
              <a:buNone/>
              <a:defRPr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GB"/>
              <a:t>Quotation</a:t>
            </a:r>
          </a:p>
          <a:p>
            <a:pPr lvl="1"/>
            <a:r>
              <a:rPr lang="en-GB"/>
              <a:t>Attribution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A6D7-276D-4D2C-A18E-2A2FA9F2A3E1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Box"/>
          <p:cNvSpPr txBox="1"/>
          <p:nvPr userDrawn="1">
            <p:custDataLst>
              <p:tags r:id="rId4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4326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Pictur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98E8DC7E-B2A0-43CE-9007-7AAEE1C22D50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1"/>
            </p:custDataLst>
          </p:nvPr>
        </p:nvSpPr>
        <p:spPr>
          <a:xfrm>
            <a:off x="455085" y="455084"/>
            <a:ext cx="5592233" cy="323432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BE59C-F6F7-4753-8763-15E33CAB5F2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E71FEA35-3A16-4900-A508-D7765FD7B774}"/>
              </a:ext>
            </a:extLst>
          </p:cNvPr>
          <p:cNvSpPr>
            <a:spLocks noGrp="1"/>
          </p:cNvSpPr>
          <p:nvPr>
            <p:ph type="pic" sz="quarter" idx="19" hasCustomPrompt="1"/>
            <p:custDataLst>
              <p:tags r:id="rId3"/>
            </p:custDataLst>
          </p:nvPr>
        </p:nvSpPr>
        <p:spPr>
          <a:xfrm>
            <a:off x="3301717" y="3783807"/>
            <a:ext cx="2745600" cy="21888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A501F6B3-22CB-4A2C-8C97-C213BE1BCA88}"/>
              </a:ext>
            </a:extLst>
          </p:cNvPr>
          <p:cNvSpPr>
            <a:spLocks noGrp="1"/>
          </p:cNvSpPr>
          <p:nvPr>
            <p:ph type="pic" sz="quarter" idx="18" hasCustomPrompt="1"/>
            <p:custDataLst>
              <p:tags r:id="rId4"/>
            </p:custDataLst>
          </p:nvPr>
        </p:nvSpPr>
        <p:spPr>
          <a:xfrm>
            <a:off x="6144000" y="455083"/>
            <a:ext cx="5592232" cy="1983316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42BA8E63-F18A-4D11-B071-F3C77163AE73}"/>
              </a:ext>
            </a:extLst>
          </p:cNvPr>
          <p:cNvSpPr>
            <a:spLocks noGrp="1"/>
          </p:cNvSpPr>
          <p:nvPr>
            <p:ph type="pic" sz="quarter" idx="20" hasCustomPrompt="1"/>
            <p:custDataLst>
              <p:tags r:id="rId5"/>
            </p:custDataLst>
          </p:nvPr>
        </p:nvSpPr>
        <p:spPr>
          <a:xfrm>
            <a:off x="6144000" y="2535027"/>
            <a:ext cx="2745600" cy="2918884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10" name="Picture Placeholder 141">
            <a:extLst>
              <a:ext uri="{FF2B5EF4-FFF2-40B4-BE49-F238E27FC236}">
                <a16:creationId xmlns:a16="http://schemas.microsoft.com/office/drawing/2014/main" id="{E71FEA35-3A16-4900-A508-D7765FD7B774}"/>
              </a:ext>
            </a:extLst>
          </p:cNvPr>
          <p:cNvSpPr>
            <a:spLocks noGrp="1"/>
          </p:cNvSpPr>
          <p:nvPr>
            <p:ph type="pic" sz="quarter" idx="21" hasCustomPrompt="1"/>
            <p:custDataLst>
              <p:tags r:id="rId6"/>
            </p:custDataLst>
          </p:nvPr>
        </p:nvSpPr>
        <p:spPr>
          <a:xfrm>
            <a:off x="8990632" y="2535027"/>
            <a:ext cx="2745600" cy="21888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sp>
        <p:nvSpPr>
          <p:cNvPr id="9" name="FooterBox"/>
          <p:cNvSpPr txBox="1"/>
          <p:nvPr userDrawn="1">
            <p:custDataLst>
              <p:tags r:id="rId7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721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RF_Section divider">
    <p:bg>
      <p:bgPr>
        <a:blipFill dpi="0" rotWithShape="1">
          <a:blip r:embed="rId6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D95260-6980-437C-BEB9-C3C457236111}"/>
              </a:ext>
            </a:extLst>
          </p:cNvPr>
          <p:cNvGrpSpPr/>
          <p:nvPr userDrawn="1"/>
        </p:nvGrpSpPr>
        <p:grpSpPr>
          <a:xfrm>
            <a:off x="-2099" y="-5085"/>
            <a:ext cx="12192000" cy="6874933"/>
            <a:chOff x="-1574" y="-3814"/>
            <a:chExt cx="9144000" cy="5156200"/>
          </a:xfrm>
        </p:grpSpPr>
        <p:pic>
          <p:nvPicPr>
            <p:cNvPr id="11" name="Picture 2" descr="C:\Users\user\Documents\Mediasterling\Norton Rose\From Client\20181219 - logos and resources\overlay.png">
              <a:extLst>
                <a:ext uri="{FF2B5EF4-FFF2-40B4-BE49-F238E27FC236}">
                  <a16:creationId xmlns:a16="http://schemas.microsoft.com/office/drawing/2014/main" id="{93F78249-3780-4F43-89C9-8524A2CDE3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74" y="-3814"/>
              <a:ext cx="9144000" cy="5143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1" descr="C:\Users\user\Documents\Mediasterling\Norton Rose\From Client\20181219 - logos and resources\overlay.png">
              <a:extLst>
                <a:ext uri="{FF2B5EF4-FFF2-40B4-BE49-F238E27FC236}">
                  <a16:creationId xmlns:a16="http://schemas.microsoft.com/office/drawing/2014/main" id="{822F46C7-C11F-4D2C-AC09-D76CBD180E9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74" y="8886"/>
              <a:ext cx="9144000" cy="5143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" name="Straight Connector 5" hidden="1">
            <a:extLst>
              <a:ext uri="{FF2B5EF4-FFF2-40B4-BE49-F238E27FC236}">
                <a16:creationId xmlns:a16="http://schemas.microsoft.com/office/drawing/2014/main" id="{3B28DC33-08C2-FB42-99B4-0451F625E47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448931" y="1030640"/>
            <a:ext cx="11289941" cy="0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37165701-B47F-8B46-9502-B88ADE0AAD8B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>
            <a:off x="455999" y="1163315"/>
            <a:ext cx="8440788" cy="5702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1pPr>
            <a:lvl2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2pPr>
            <a:lvl3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3pPr>
            <a:lvl4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4pPr>
            <a:lvl5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5pPr>
            <a:lvl6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6pPr>
            <a:lvl7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7pPr>
            <a:lvl8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8pPr>
            <a:lvl9pPr marL="0" indent="0">
              <a:spcBef>
                <a:spcPts val="800"/>
              </a:spcBef>
              <a:buNone/>
              <a:defRPr sz="1333">
                <a:solidFill>
                  <a:schemeClr val="bg1"/>
                </a:solidFill>
              </a:defRPr>
            </a:lvl9pPr>
          </a:lstStyle>
          <a:p>
            <a:pPr lvl="0"/>
            <a:r>
              <a:rPr lang="en-GB">
                <a:solidFill>
                  <a:schemeClr val="bg1"/>
                </a:solidFill>
              </a:rPr>
              <a:t>Chapter or section number (optional)</a:t>
            </a:r>
          </a:p>
        </p:txBody>
      </p:sp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D513344C-413B-46D0-BB8A-46D78FB0393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6000" y="1856493"/>
            <a:ext cx="8438233" cy="4116740"/>
          </a:xfrm>
        </p:spPr>
        <p:txBody>
          <a:bodyPr anchor="t"/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grpSp>
        <p:nvGrpSpPr>
          <p:cNvPr id="12" name="Group 11" hidden="1">
            <a:extLst>
              <a:ext uri="{FF2B5EF4-FFF2-40B4-BE49-F238E27FC236}">
                <a16:creationId xmlns:a16="http://schemas.microsoft.com/office/drawing/2014/main" id="{4642BEC9-940E-460B-A23F-FFA1BF99749B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11267607" y="6115325"/>
            <a:ext cx="469311" cy="341905"/>
            <a:chOff x="8450705" y="4587368"/>
            <a:chExt cx="351983" cy="256429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2480AD6-6C4B-45B1-9DAF-4543B3BA8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0705" y="4587368"/>
              <a:ext cx="152663" cy="106752"/>
            </a:xfrm>
            <a:custGeom>
              <a:avLst/>
              <a:gdLst>
                <a:gd name="T0" fmla="*/ 0 w 409"/>
                <a:gd name="T1" fmla="*/ 286 h 286"/>
                <a:gd name="T2" fmla="*/ 206 w 409"/>
                <a:gd name="T3" fmla="*/ 130 h 286"/>
                <a:gd name="T4" fmla="*/ 409 w 409"/>
                <a:gd name="T5" fmla="*/ 286 h 286"/>
                <a:gd name="T6" fmla="*/ 206 w 409"/>
                <a:gd name="T7" fmla="*/ 0 h 286"/>
                <a:gd name="T8" fmla="*/ 0 w 409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86">
                  <a:moveTo>
                    <a:pt x="0" y="286"/>
                  </a:moveTo>
                  <a:lnTo>
                    <a:pt x="206" y="130"/>
                  </a:lnTo>
                  <a:lnTo>
                    <a:pt x="409" y="286"/>
                  </a:lnTo>
                  <a:lnTo>
                    <a:pt x="206" y="0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6F1BD30F-6795-4DC9-9F11-6C2BB93E5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1981" y="4707931"/>
              <a:ext cx="110111" cy="135866"/>
            </a:xfrm>
            <a:custGeom>
              <a:avLst/>
              <a:gdLst>
                <a:gd name="T0" fmla="*/ 0 w 125"/>
                <a:gd name="T1" fmla="*/ 0 h 154"/>
                <a:gd name="T2" fmla="*/ 0 w 125"/>
                <a:gd name="T3" fmla="*/ 151 h 154"/>
                <a:gd name="T4" fmla="*/ 24 w 125"/>
                <a:gd name="T5" fmla="*/ 151 h 154"/>
                <a:gd name="T6" fmla="*/ 23 w 125"/>
                <a:gd name="T7" fmla="*/ 39 h 154"/>
                <a:gd name="T8" fmla="*/ 125 w 125"/>
                <a:gd name="T9" fmla="*/ 154 h 154"/>
                <a:gd name="T10" fmla="*/ 125 w 125"/>
                <a:gd name="T11" fmla="*/ 0 h 154"/>
                <a:gd name="T12" fmla="*/ 100 w 125"/>
                <a:gd name="T13" fmla="*/ 0 h 154"/>
                <a:gd name="T14" fmla="*/ 102 w 125"/>
                <a:gd name="T15" fmla="*/ 89 h 154"/>
                <a:gd name="T16" fmla="*/ 24 w 125"/>
                <a:gd name="T17" fmla="*/ 0 h 154"/>
                <a:gd name="T18" fmla="*/ 0 w 125"/>
                <a:gd name="T19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154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2" y="78"/>
                    <a:pt x="102" y="89"/>
                  </a:cubicBezTo>
                  <a:cubicBezTo>
                    <a:pt x="95" y="80"/>
                    <a:pt x="24" y="0"/>
                    <a:pt x="2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DF17D40-378D-47E5-B1A3-7DED00C3C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8254" y="4707931"/>
              <a:ext cx="94434" cy="133253"/>
            </a:xfrm>
            <a:custGeom>
              <a:avLst/>
              <a:gdLst>
                <a:gd name="T0" fmla="*/ 45 w 107"/>
                <a:gd name="T1" fmla="*/ 67 h 151"/>
                <a:gd name="T2" fmla="*/ 24 w 107"/>
                <a:gd name="T3" fmla="*/ 67 h 151"/>
                <a:gd name="T4" fmla="*/ 24 w 107"/>
                <a:gd name="T5" fmla="*/ 38 h 151"/>
                <a:gd name="T6" fmla="*/ 24 w 107"/>
                <a:gd name="T7" fmla="*/ 21 h 151"/>
                <a:gd name="T8" fmla="*/ 36 w 107"/>
                <a:gd name="T9" fmla="*/ 21 h 151"/>
                <a:gd name="T10" fmla="*/ 56 w 107"/>
                <a:gd name="T11" fmla="*/ 21 h 151"/>
                <a:gd name="T12" fmla="*/ 83 w 107"/>
                <a:gd name="T13" fmla="*/ 21 h 151"/>
                <a:gd name="T14" fmla="*/ 83 w 107"/>
                <a:gd name="T15" fmla="*/ 21 h 151"/>
                <a:gd name="T16" fmla="*/ 96 w 107"/>
                <a:gd name="T17" fmla="*/ 21 h 151"/>
                <a:gd name="T18" fmla="*/ 107 w 107"/>
                <a:gd name="T19" fmla="*/ 0 h 151"/>
                <a:gd name="T20" fmla="*/ 80 w 107"/>
                <a:gd name="T21" fmla="*/ 0 h 151"/>
                <a:gd name="T22" fmla="*/ 80 w 107"/>
                <a:gd name="T23" fmla="*/ 0 h 151"/>
                <a:gd name="T24" fmla="*/ 48 w 107"/>
                <a:gd name="T25" fmla="*/ 0 h 151"/>
                <a:gd name="T26" fmla="*/ 3 w 107"/>
                <a:gd name="T27" fmla="*/ 0 h 151"/>
                <a:gd name="T28" fmla="*/ 0 w 107"/>
                <a:gd name="T29" fmla="*/ 0 h 151"/>
                <a:gd name="T30" fmla="*/ 0 w 107"/>
                <a:gd name="T31" fmla="*/ 30 h 151"/>
                <a:gd name="T32" fmla="*/ 1 w 107"/>
                <a:gd name="T33" fmla="*/ 74 h 151"/>
                <a:gd name="T34" fmla="*/ 0 w 107"/>
                <a:gd name="T35" fmla="*/ 106 h 151"/>
                <a:gd name="T36" fmla="*/ 0 w 107"/>
                <a:gd name="T37" fmla="*/ 151 h 151"/>
                <a:gd name="T38" fmla="*/ 24 w 107"/>
                <a:gd name="T39" fmla="*/ 151 h 151"/>
                <a:gd name="T40" fmla="*/ 24 w 107"/>
                <a:gd name="T41" fmla="*/ 108 h 151"/>
                <a:gd name="T42" fmla="*/ 24 w 107"/>
                <a:gd name="T43" fmla="*/ 88 h 151"/>
                <a:gd name="T44" fmla="*/ 44 w 107"/>
                <a:gd name="T45" fmla="*/ 88 h 151"/>
                <a:gd name="T46" fmla="*/ 78 w 107"/>
                <a:gd name="T47" fmla="*/ 89 h 151"/>
                <a:gd name="T48" fmla="*/ 97 w 107"/>
                <a:gd name="T49" fmla="*/ 89 h 151"/>
                <a:gd name="T50" fmla="*/ 97 w 107"/>
                <a:gd name="T51" fmla="*/ 67 h 151"/>
                <a:gd name="T52" fmla="*/ 76 w 107"/>
                <a:gd name="T53" fmla="*/ 67 h 151"/>
                <a:gd name="T54" fmla="*/ 45 w 107"/>
                <a:gd name="T55" fmla="*/ 6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151">
                  <a:moveTo>
                    <a:pt x="45" y="67"/>
                  </a:moveTo>
                  <a:cubicBezTo>
                    <a:pt x="24" y="67"/>
                    <a:pt x="24" y="67"/>
                    <a:pt x="24" y="67"/>
                  </a:cubicBezTo>
                  <a:cubicBezTo>
                    <a:pt x="24" y="60"/>
                    <a:pt x="24" y="38"/>
                    <a:pt x="24" y="38"/>
                  </a:cubicBezTo>
                  <a:cubicBezTo>
                    <a:pt x="24" y="38"/>
                    <a:pt x="24" y="24"/>
                    <a:pt x="24" y="21"/>
                  </a:cubicBezTo>
                  <a:cubicBezTo>
                    <a:pt x="28" y="21"/>
                    <a:pt x="36" y="21"/>
                    <a:pt x="36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74"/>
                    <a:pt x="1" y="74"/>
                    <a:pt x="1" y="7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24" y="108"/>
                    <a:pt x="24" y="92"/>
                    <a:pt x="24" y="88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4" y="88"/>
                    <a:pt x="78" y="89"/>
                    <a:pt x="78" y="89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76" y="67"/>
                    <a:pt x="76" y="67"/>
                    <a:pt x="76" y="67"/>
                  </a:cubicBezTo>
                  <a:lnTo>
                    <a:pt x="45" y="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2A43900-651E-4AC7-AC73-4A860AF76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7396" y="4707931"/>
              <a:ext cx="102273" cy="135866"/>
            </a:xfrm>
            <a:custGeom>
              <a:avLst/>
              <a:gdLst>
                <a:gd name="T0" fmla="*/ 39 w 116"/>
                <a:gd name="T1" fmla="*/ 82 h 154"/>
                <a:gd name="T2" fmla="*/ 97 w 116"/>
                <a:gd name="T3" fmla="*/ 154 h 154"/>
                <a:gd name="T4" fmla="*/ 116 w 116"/>
                <a:gd name="T5" fmla="*/ 138 h 154"/>
                <a:gd name="T6" fmla="*/ 71 w 116"/>
                <a:gd name="T7" fmla="*/ 84 h 154"/>
                <a:gd name="T8" fmla="*/ 87 w 116"/>
                <a:gd name="T9" fmla="*/ 71 h 154"/>
                <a:gd name="T10" fmla="*/ 97 w 116"/>
                <a:gd name="T11" fmla="*/ 43 h 154"/>
                <a:gd name="T12" fmla="*/ 90 w 116"/>
                <a:gd name="T13" fmla="*/ 20 h 154"/>
                <a:gd name="T14" fmla="*/ 71 w 116"/>
                <a:gd name="T15" fmla="*/ 6 h 154"/>
                <a:gd name="T16" fmla="*/ 53 w 116"/>
                <a:gd name="T17" fmla="*/ 1 h 154"/>
                <a:gd name="T18" fmla="*/ 34 w 116"/>
                <a:gd name="T19" fmla="*/ 0 h 154"/>
                <a:gd name="T20" fmla="*/ 14 w 116"/>
                <a:gd name="T21" fmla="*/ 0 h 154"/>
                <a:gd name="T22" fmla="*/ 0 w 116"/>
                <a:gd name="T23" fmla="*/ 0 h 154"/>
                <a:gd name="T24" fmla="*/ 0 w 116"/>
                <a:gd name="T25" fmla="*/ 3 h 154"/>
                <a:gd name="T26" fmla="*/ 0 w 116"/>
                <a:gd name="T27" fmla="*/ 56 h 154"/>
                <a:gd name="T28" fmla="*/ 0 w 116"/>
                <a:gd name="T29" fmla="*/ 76 h 154"/>
                <a:gd name="T30" fmla="*/ 0 w 116"/>
                <a:gd name="T31" fmla="*/ 123 h 154"/>
                <a:gd name="T32" fmla="*/ 0 w 116"/>
                <a:gd name="T33" fmla="*/ 151 h 154"/>
                <a:gd name="T34" fmla="*/ 24 w 116"/>
                <a:gd name="T35" fmla="*/ 151 h 154"/>
                <a:gd name="T36" fmla="*/ 24 w 116"/>
                <a:gd name="T37" fmla="*/ 116 h 154"/>
                <a:gd name="T38" fmla="*/ 24 w 116"/>
                <a:gd name="T39" fmla="*/ 76 h 154"/>
                <a:gd name="T40" fmla="*/ 24 w 116"/>
                <a:gd name="T41" fmla="*/ 54 h 154"/>
                <a:gd name="T42" fmla="*/ 24 w 116"/>
                <a:gd name="T43" fmla="*/ 21 h 154"/>
                <a:gd name="T44" fmla="*/ 29 w 116"/>
                <a:gd name="T45" fmla="*/ 21 h 154"/>
                <a:gd name="T46" fmla="*/ 44 w 116"/>
                <a:gd name="T47" fmla="*/ 21 h 154"/>
                <a:gd name="T48" fmla="*/ 57 w 116"/>
                <a:gd name="T49" fmla="*/ 24 h 154"/>
                <a:gd name="T50" fmla="*/ 68 w 116"/>
                <a:gd name="T51" fmla="*/ 32 h 154"/>
                <a:gd name="T52" fmla="*/ 71 w 116"/>
                <a:gd name="T53" fmla="*/ 46 h 154"/>
                <a:gd name="T54" fmla="*/ 69 w 116"/>
                <a:gd name="T55" fmla="*/ 59 h 154"/>
                <a:gd name="T56" fmla="*/ 62 w 116"/>
                <a:gd name="T57" fmla="*/ 68 h 154"/>
                <a:gd name="T58" fmla="*/ 51 w 116"/>
                <a:gd name="T59" fmla="*/ 76 h 154"/>
                <a:gd name="T60" fmla="*/ 39 w 116"/>
                <a:gd name="T61" fmla="*/ 8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154">
                  <a:moveTo>
                    <a:pt x="39" y="82"/>
                  </a:moveTo>
                  <a:cubicBezTo>
                    <a:pt x="97" y="154"/>
                    <a:pt x="97" y="154"/>
                    <a:pt x="97" y="154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71" y="84"/>
                    <a:pt x="81" y="76"/>
                    <a:pt x="87" y="71"/>
                  </a:cubicBezTo>
                  <a:cubicBezTo>
                    <a:pt x="93" y="63"/>
                    <a:pt x="97" y="54"/>
                    <a:pt x="97" y="43"/>
                  </a:cubicBezTo>
                  <a:cubicBezTo>
                    <a:pt x="97" y="34"/>
                    <a:pt x="95" y="27"/>
                    <a:pt x="90" y="20"/>
                  </a:cubicBezTo>
                  <a:cubicBezTo>
                    <a:pt x="85" y="14"/>
                    <a:pt x="79" y="9"/>
                    <a:pt x="71" y="6"/>
                  </a:cubicBezTo>
                  <a:cubicBezTo>
                    <a:pt x="65" y="3"/>
                    <a:pt x="59" y="1"/>
                    <a:pt x="53" y="1"/>
                  </a:cubicBezTo>
                  <a:cubicBezTo>
                    <a:pt x="47" y="0"/>
                    <a:pt x="41" y="0"/>
                    <a:pt x="34" y="0"/>
                  </a:cubicBezTo>
                  <a:cubicBezTo>
                    <a:pt x="34" y="0"/>
                    <a:pt x="14" y="0"/>
                    <a:pt x="14" y="0"/>
                  </a:cubicBezTo>
                  <a:cubicBezTo>
                    <a:pt x="14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56"/>
                    <a:pt x="0" y="5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9" y="21"/>
                    <a:pt x="44" y="21"/>
                    <a:pt x="44" y="21"/>
                  </a:cubicBezTo>
                  <a:cubicBezTo>
                    <a:pt x="49" y="22"/>
                    <a:pt x="53" y="23"/>
                    <a:pt x="57" y="24"/>
                  </a:cubicBezTo>
                  <a:cubicBezTo>
                    <a:pt x="61" y="26"/>
                    <a:pt x="65" y="29"/>
                    <a:pt x="68" y="32"/>
                  </a:cubicBezTo>
                  <a:cubicBezTo>
                    <a:pt x="70" y="36"/>
                    <a:pt x="71" y="40"/>
                    <a:pt x="71" y="46"/>
                  </a:cubicBezTo>
                  <a:cubicBezTo>
                    <a:pt x="71" y="51"/>
                    <a:pt x="70" y="56"/>
                    <a:pt x="69" y="59"/>
                  </a:cubicBezTo>
                  <a:cubicBezTo>
                    <a:pt x="67" y="63"/>
                    <a:pt x="65" y="66"/>
                    <a:pt x="62" y="68"/>
                  </a:cubicBezTo>
                  <a:cubicBezTo>
                    <a:pt x="59" y="71"/>
                    <a:pt x="56" y="74"/>
                    <a:pt x="51" y="76"/>
                  </a:cubicBezTo>
                  <a:cubicBezTo>
                    <a:pt x="45" y="80"/>
                    <a:pt x="39" y="82"/>
                    <a:pt x="39" y="8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42BEC9-940E-460B-A23F-FFA1BF99749B}"/>
              </a:ext>
            </a:extLst>
          </p:cNvPr>
          <p:cNvGrpSpPr/>
          <p:nvPr userDrawn="1"/>
        </p:nvGrpSpPr>
        <p:grpSpPr>
          <a:xfrm>
            <a:off x="11260667" y="6112934"/>
            <a:ext cx="469311" cy="341905"/>
            <a:chOff x="8450705" y="4587368"/>
            <a:chExt cx="351983" cy="256429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2480AD6-6C4B-45B1-9DAF-4543B3BA8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0705" y="4587368"/>
              <a:ext cx="152663" cy="106752"/>
            </a:xfrm>
            <a:custGeom>
              <a:avLst/>
              <a:gdLst>
                <a:gd name="T0" fmla="*/ 0 w 409"/>
                <a:gd name="T1" fmla="*/ 286 h 286"/>
                <a:gd name="T2" fmla="*/ 206 w 409"/>
                <a:gd name="T3" fmla="*/ 130 h 286"/>
                <a:gd name="T4" fmla="*/ 409 w 409"/>
                <a:gd name="T5" fmla="*/ 286 h 286"/>
                <a:gd name="T6" fmla="*/ 206 w 409"/>
                <a:gd name="T7" fmla="*/ 0 h 286"/>
                <a:gd name="T8" fmla="*/ 0 w 409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86">
                  <a:moveTo>
                    <a:pt x="0" y="286"/>
                  </a:moveTo>
                  <a:lnTo>
                    <a:pt x="206" y="130"/>
                  </a:lnTo>
                  <a:lnTo>
                    <a:pt x="409" y="286"/>
                  </a:lnTo>
                  <a:lnTo>
                    <a:pt x="206" y="0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6F1BD30F-6795-4DC9-9F11-6C2BB93E5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1981" y="4707931"/>
              <a:ext cx="110111" cy="135866"/>
            </a:xfrm>
            <a:custGeom>
              <a:avLst/>
              <a:gdLst>
                <a:gd name="T0" fmla="*/ 0 w 125"/>
                <a:gd name="T1" fmla="*/ 0 h 154"/>
                <a:gd name="T2" fmla="*/ 0 w 125"/>
                <a:gd name="T3" fmla="*/ 151 h 154"/>
                <a:gd name="T4" fmla="*/ 24 w 125"/>
                <a:gd name="T5" fmla="*/ 151 h 154"/>
                <a:gd name="T6" fmla="*/ 23 w 125"/>
                <a:gd name="T7" fmla="*/ 39 h 154"/>
                <a:gd name="T8" fmla="*/ 125 w 125"/>
                <a:gd name="T9" fmla="*/ 154 h 154"/>
                <a:gd name="T10" fmla="*/ 125 w 125"/>
                <a:gd name="T11" fmla="*/ 0 h 154"/>
                <a:gd name="T12" fmla="*/ 100 w 125"/>
                <a:gd name="T13" fmla="*/ 0 h 154"/>
                <a:gd name="T14" fmla="*/ 102 w 125"/>
                <a:gd name="T15" fmla="*/ 89 h 154"/>
                <a:gd name="T16" fmla="*/ 24 w 125"/>
                <a:gd name="T17" fmla="*/ 0 h 154"/>
                <a:gd name="T18" fmla="*/ 0 w 125"/>
                <a:gd name="T19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154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2" y="78"/>
                    <a:pt x="102" y="89"/>
                  </a:cubicBezTo>
                  <a:cubicBezTo>
                    <a:pt x="95" y="80"/>
                    <a:pt x="24" y="0"/>
                    <a:pt x="2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0DF17D40-378D-47E5-B1A3-7DED00C3C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8254" y="4707931"/>
              <a:ext cx="94434" cy="133253"/>
            </a:xfrm>
            <a:custGeom>
              <a:avLst/>
              <a:gdLst>
                <a:gd name="T0" fmla="*/ 45 w 107"/>
                <a:gd name="T1" fmla="*/ 67 h 151"/>
                <a:gd name="T2" fmla="*/ 24 w 107"/>
                <a:gd name="T3" fmla="*/ 67 h 151"/>
                <a:gd name="T4" fmla="*/ 24 w 107"/>
                <a:gd name="T5" fmla="*/ 38 h 151"/>
                <a:gd name="T6" fmla="*/ 24 w 107"/>
                <a:gd name="T7" fmla="*/ 21 h 151"/>
                <a:gd name="T8" fmla="*/ 36 w 107"/>
                <a:gd name="T9" fmla="*/ 21 h 151"/>
                <a:gd name="T10" fmla="*/ 56 w 107"/>
                <a:gd name="T11" fmla="*/ 21 h 151"/>
                <a:gd name="T12" fmla="*/ 83 w 107"/>
                <a:gd name="T13" fmla="*/ 21 h 151"/>
                <a:gd name="T14" fmla="*/ 83 w 107"/>
                <a:gd name="T15" fmla="*/ 21 h 151"/>
                <a:gd name="T16" fmla="*/ 96 w 107"/>
                <a:gd name="T17" fmla="*/ 21 h 151"/>
                <a:gd name="T18" fmla="*/ 107 w 107"/>
                <a:gd name="T19" fmla="*/ 0 h 151"/>
                <a:gd name="T20" fmla="*/ 80 w 107"/>
                <a:gd name="T21" fmla="*/ 0 h 151"/>
                <a:gd name="T22" fmla="*/ 80 w 107"/>
                <a:gd name="T23" fmla="*/ 0 h 151"/>
                <a:gd name="T24" fmla="*/ 48 w 107"/>
                <a:gd name="T25" fmla="*/ 0 h 151"/>
                <a:gd name="T26" fmla="*/ 3 w 107"/>
                <a:gd name="T27" fmla="*/ 0 h 151"/>
                <a:gd name="T28" fmla="*/ 0 w 107"/>
                <a:gd name="T29" fmla="*/ 0 h 151"/>
                <a:gd name="T30" fmla="*/ 0 w 107"/>
                <a:gd name="T31" fmla="*/ 30 h 151"/>
                <a:gd name="T32" fmla="*/ 1 w 107"/>
                <a:gd name="T33" fmla="*/ 74 h 151"/>
                <a:gd name="T34" fmla="*/ 0 w 107"/>
                <a:gd name="T35" fmla="*/ 106 h 151"/>
                <a:gd name="T36" fmla="*/ 0 w 107"/>
                <a:gd name="T37" fmla="*/ 151 h 151"/>
                <a:gd name="T38" fmla="*/ 24 w 107"/>
                <a:gd name="T39" fmla="*/ 151 h 151"/>
                <a:gd name="T40" fmla="*/ 24 w 107"/>
                <a:gd name="T41" fmla="*/ 108 h 151"/>
                <a:gd name="T42" fmla="*/ 24 w 107"/>
                <a:gd name="T43" fmla="*/ 88 h 151"/>
                <a:gd name="T44" fmla="*/ 44 w 107"/>
                <a:gd name="T45" fmla="*/ 88 h 151"/>
                <a:gd name="T46" fmla="*/ 78 w 107"/>
                <a:gd name="T47" fmla="*/ 89 h 151"/>
                <a:gd name="T48" fmla="*/ 97 w 107"/>
                <a:gd name="T49" fmla="*/ 89 h 151"/>
                <a:gd name="T50" fmla="*/ 97 w 107"/>
                <a:gd name="T51" fmla="*/ 67 h 151"/>
                <a:gd name="T52" fmla="*/ 76 w 107"/>
                <a:gd name="T53" fmla="*/ 67 h 151"/>
                <a:gd name="T54" fmla="*/ 45 w 107"/>
                <a:gd name="T55" fmla="*/ 6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151">
                  <a:moveTo>
                    <a:pt x="45" y="67"/>
                  </a:moveTo>
                  <a:cubicBezTo>
                    <a:pt x="24" y="67"/>
                    <a:pt x="24" y="67"/>
                    <a:pt x="24" y="67"/>
                  </a:cubicBezTo>
                  <a:cubicBezTo>
                    <a:pt x="24" y="60"/>
                    <a:pt x="24" y="38"/>
                    <a:pt x="24" y="38"/>
                  </a:cubicBezTo>
                  <a:cubicBezTo>
                    <a:pt x="24" y="38"/>
                    <a:pt x="24" y="24"/>
                    <a:pt x="24" y="21"/>
                  </a:cubicBezTo>
                  <a:cubicBezTo>
                    <a:pt x="28" y="21"/>
                    <a:pt x="36" y="21"/>
                    <a:pt x="36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74"/>
                    <a:pt x="1" y="74"/>
                    <a:pt x="1" y="7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24" y="108"/>
                    <a:pt x="24" y="92"/>
                    <a:pt x="24" y="88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4" y="88"/>
                    <a:pt x="78" y="89"/>
                    <a:pt x="78" y="89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76" y="67"/>
                    <a:pt x="76" y="67"/>
                    <a:pt x="76" y="67"/>
                  </a:cubicBezTo>
                  <a:lnTo>
                    <a:pt x="45" y="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22A43900-651E-4AC7-AC73-4A860AF76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7396" y="4707931"/>
              <a:ext cx="102273" cy="135866"/>
            </a:xfrm>
            <a:custGeom>
              <a:avLst/>
              <a:gdLst>
                <a:gd name="T0" fmla="*/ 39 w 116"/>
                <a:gd name="T1" fmla="*/ 82 h 154"/>
                <a:gd name="T2" fmla="*/ 97 w 116"/>
                <a:gd name="T3" fmla="*/ 154 h 154"/>
                <a:gd name="T4" fmla="*/ 116 w 116"/>
                <a:gd name="T5" fmla="*/ 138 h 154"/>
                <a:gd name="T6" fmla="*/ 71 w 116"/>
                <a:gd name="T7" fmla="*/ 84 h 154"/>
                <a:gd name="T8" fmla="*/ 87 w 116"/>
                <a:gd name="T9" fmla="*/ 71 h 154"/>
                <a:gd name="T10" fmla="*/ 97 w 116"/>
                <a:gd name="T11" fmla="*/ 43 h 154"/>
                <a:gd name="T12" fmla="*/ 90 w 116"/>
                <a:gd name="T13" fmla="*/ 20 h 154"/>
                <a:gd name="T14" fmla="*/ 71 w 116"/>
                <a:gd name="T15" fmla="*/ 6 h 154"/>
                <a:gd name="T16" fmla="*/ 53 w 116"/>
                <a:gd name="T17" fmla="*/ 1 h 154"/>
                <a:gd name="T18" fmla="*/ 34 w 116"/>
                <a:gd name="T19" fmla="*/ 0 h 154"/>
                <a:gd name="T20" fmla="*/ 14 w 116"/>
                <a:gd name="T21" fmla="*/ 0 h 154"/>
                <a:gd name="T22" fmla="*/ 0 w 116"/>
                <a:gd name="T23" fmla="*/ 0 h 154"/>
                <a:gd name="T24" fmla="*/ 0 w 116"/>
                <a:gd name="T25" fmla="*/ 3 h 154"/>
                <a:gd name="T26" fmla="*/ 0 w 116"/>
                <a:gd name="T27" fmla="*/ 56 h 154"/>
                <a:gd name="T28" fmla="*/ 0 w 116"/>
                <a:gd name="T29" fmla="*/ 76 h 154"/>
                <a:gd name="T30" fmla="*/ 0 w 116"/>
                <a:gd name="T31" fmla="*/ 123 h 154"/>
                <a:gd name="T32" fmla="*/ 0 w 116"/>
                <a:gd name="T33" fmla="*/ 151 h 154"/>
                <a:gd name="T34" fmla="*/ 24 w 116"/>
                <a:gd name="T35" fmla="*/ 151 h 154"/>
                <a:gd name="T36" fmla="*/ 24 w 116"/>
                <a:gd name="T37" fmla="*/ 116 h 154"/>
                <a:gd name="T38" fmla="*/ 24 w 116"/>
                <a:gd name="T39" fmla="*/ 76 h 154"/>
                <a:gd name="T40" fmla="*/ 24 w 116"/>
                <a:gd name="T41" fmla="*/ 54 h 154"/>
                <a:gd name="T42" fmla="*/ 24 w 116"/>
                <a:gd name="T43" fmla="*/ 21 h 154"/>
                <a:gd name="T44" fmla="*/ 29 w 116"/>
                <a:gd name="T45" fmla="*/ 21 h 154"/>
                <a:gd name="T46" fmla="*/ 44 w 116"/>
                <a:gd name="T47" fmla="*/ 21 h 154"/>
                <a:gd name="T48" fmla="*/ 57 w 116"/>
                <a:gd name="T49" fmla="*/ 24 h 154"/>
                <a:gd name="T50" fmla="*/ 68 w 116"/>
                <a:gd name="T51" fmla="*/ 32 h 154"/>
                <a:gd name="T52" fmla="*/ 71 w 116"/>
                <a:gd name="T53" fmla="*/ 46 h 154"/>
                <a:gd name="T54" fmla="*/ 69 w 116"/>
                <a:gd name="T55" fmla="*/ 59 h 154"/>
                <a:gd name="T56" fmla="*/ 62 w 116"/>
                <a:gd name="T57" fmla="*/ 68 h 154"/>
                <a:gd name="T58" fmla="*/ 51 w 116"/>
                <a:gd name="T59" fmla="*/ 76 h 154"/>
                <a:gd name="T60" fmla="*/ 39 w 116"/>
                <a:gd name="T61" fmla="*/ 8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154">
                  <a:moveTo>
                    <a:pt x="39" y="82"/>
                  </a:moveTo>
                  <a:cubicBezTo>
                    <a:pt x="97" y="154"/>
                    <a:pt x="97" y="154"/>
                    <a:pt x="97" y="154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71" y="84"/>
                    <a:pt x="81" y="76"/>
                    <a:pt x="87" y="71"/>
                  </a:cubicBezTo>
                  <a:cubicBezTo>
                    <a:pt x="93" y="63"/>
                    <a:pt x="97" y="54"/>
                    <a:pt x="97" y="43"/>
                  </a:cubicBezTo>
                  <a:cubicBezTo>
                    <a:pt x="97" y="34"/>
                    <a:pt x="95" y="27"/>
                    <a:pt x="90" y="20"/>
                  </a:cubicBezTo>
                  <a:cubicBezTo>
                    <a:pt x="85" y="14"/>
                    <a:pt x="79" y="9"/>
                    <a:pt x="71" y="6"/>
                  </a:cubicBezTo>
                  <a:cubicBezTo>
                    <a:pt x="65" y="3"/>
                    <a:pt x="59" y="1"/>
                    <a:pt x="53" y="1"/>
                  </a:cubicBezTo>
                  <a:cubicBezTo>
                    <a:pt x="47" y="0"/>
                    <a:pt x="41" y="0"/>
                    <a:pt x="34" y="0"/>
                  </a:cubicBezTo>
                  <a:cubicBezTo>
                    <a:pt x="34" y="0"/>
                    <a:pt x="14" y="0"/>
                    <a:pt x="14" y="0"/>
                  </a:cubicBezTo>
                  <a:cubicBezTo>
                    <a:pt x="14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56"/>
                    <a:pt x="0" y="5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9" y="21"/>
                    <a:pt x="44" y="21"/>
                    <a:pt x="44" y="21"/>
                  </a:cubicBezTo>
                  <a:cubicBezTo>
                    <a:pt x="49" y="22"/>
                    <a:pt x="53" y="23"/>
                    <a:pt x="57" y="24"/>
                  </a:cubicBezTo>
                  <a:cubicBezTo>
                    <a:pt x="61" y="26"/>
                    <a:pt x="65" y="29"/>
                    <a:pt x="68" y="32"/>
                  </a:cubicBezTo>
                  <a:cubicBezTo>
                    <a:pt x="70" y="36"/>
                    <a:pt x="71" y="40"/>
                    <a:pt x="71" y="46"/>
                  </a:cubicBezTo>
                  <a:cubicBezTo>
                    <a:pt x="71" y="51"/>
                    <a:pt x="70" y="56"/>
                    <a:pt x="69" y="59"/>
                  </a:cubicBezTo>
                  <a:cubicBezTo>
                    <a:pt x="67" y="63"/>
                    <a:pt x="65" y="66"/>
                    <a:pt x="62" y="68"/>
                  </a:cubicBezTo>
                  <a:cubicBezTo>
                    <a:pt x="59" y="71"/>
                    <a:pt x="56" y="74"/>
                    <a:pt x="51" y="76"/>
                  </a:cubicBezTo>
                  <a:cubicBezTo>
                    <a:pt x="45" y="80"/>
                    <a:pt x="39" y="82"/>
                    <a:pt x="39" y="8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28DC33-08C2-FB42-99B4-0451F625E47F}"/>
              </a:ext>
            </a:extLst>
          </p:cNvPr>
          <p:cNvCxnSpPr>
            <a:cxnSpLocks/>
          </p:cNvCxnSpPr>
          <p:nvPr userDrawn="1"/>
        </p:nvCxnSpPr>
        <p:spPr>
          <a:xfrm>
            <a:off x="448936" y="1030648"/>
            <a:ext cx="11289941" cy="0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137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RF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B97FA-32BC-498D-AC3F-3FF072D1729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Box"/>
          <p:cNvSpPr txBox="1"/>
          <p:nvPr userDrawn="1">
            <p:custDataLst>
              <p:tags r:id="rId2"/>
            </p:custDataLst>
          </p:nvPr>
        </p:nvSpPr>
        <p:spPr>
          <a:xfrm>
            <a:off x="809383" y="6325702"/>
            <a:ext cx="6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GB" sz="1067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>
            <a:spLocks noEditPoints="1"/>
          </p:cNvSpPr>
          <p:nvPr userDrawn="1">
            <p:custDataLst>
              <p:tags r:id="rId3"/>
            </p:custDataLst>
          </p:nvPr>
        </p:nvSpPr>
        <p:spPr bwMode="auto">
          <a:xfrm>
            <a:off x="5098667" y="1617777"/>
            <a:ext cx="1870459" cy="1611215"/>
          </a:xfrm>
          <a:custGeom>
            <a:avLst/>
            <a:gdLst>
              <a:gd name="T0" fmla="*/ 0 w 4588"/>
              <a:gd name="T1" fmla="*/ 2386 h 3952"/>
              <a:gd name="T2" fmla="*/ 179 w 4588"/>
              <a:gd name="T3" fmla="*/ 3952 h 3952"/>
              <a:gd name="T4" fmla="*/ 1347 w 4588"/>
              <a:gd name="T5" fmla="*/ 3683 h 3952"/>
              <a:gd name="T6" fmla="*/ 1342 w 4588"/>
              <a:gd name="T7" fmla="*/ 1084 h 3952"/>
              <a:gd name="T8" fmla="*/ 890 w 4588"/>
              <a:gd name="T9" fmla="*/ 3485 h 3952"/>
              <a:gd name="T10" fmla="*/ 775 w 4588"/>
              <a:gd name="T11" fmla="*/ 3509 h 3952"/>
              <a:gd name="T12" fmla="*/ 472 w 4588"/>
              <a:gd name="T13" fmla="*/ 3266 h 3952"/>
              <a:gd name="T14" fmla="*/ 437 w 4588"/>
              <a:gd name="T15" fmla="*/ 3181 h 3952"/>
              <a:gd name="T16" fmla="*/ 1342 w 4588"/>
              <a:gd name="T17" fmla="*/ 1193 h 3952"/>
              <a:gd name="T18" fmla="*/ 1342 w 4588"/>
              <a:gd name="T19" fmla="*/ 3569 h 3952"/>
              <a:gd name="T20" fmla="*/ 4235 w 4588"/>
              <a:gd name="T21" fmla="*/ 2262 h 3952"/>
              <a:gd name="T22" fmla="*/ 3191 w 4588"/>
              <a:gd name="T23" fmla="*/ 0 h 3952"/>
              <a:gd name="T24" fmla="*/ 1983 w 4588"/>
              <a:gd name="T25" fmla="*/ 780 h 3952"/>
              <a:gd name="T26" fmla="*/ 3186 w 4588"/>
              <a:gd name="T27" fmla="*/ 109 h 3952"/>
              <a:gd name="T28" fmla="*/ 4135 w 4588"/>
              <a:gd name="T29" fmla="*/ 2197 h 3952"/>
              <a:gd name="T30" fmla="*/ 4120 w 4588"/>
              <a:gd name="T31" fmla="*/ 2237 h 3952"/>
              <a:gd name="T32" fmla="*/ 3723 w 4588"/>
              <a:gd name="T33" fmla="*/ 2520 h 3952"/>
              <a:gd name="T34" fmla="*/ 3663 w 4588"/>
              <a:gd name="T35" fmla="*/ 2510 h 3952"/>
              <a:gd name="T36" fmla="*/ 3136 w 4588"/>
              <a:gd name="T37" fmla="*/ 2654 h 3952"/>
              <a:gd name="T38" fmla="*/ 3673 w 4588"/>
              <a:gd name="T39" fmla="*/ 2625 h 3952"/>
              <a:gd name="T40" fmla="*/ 4483 w 4588"/>
              <a:gd name="T41" fmla="*/ 2973 h 3952"/>
              <a:gd name="T42" fmla="*/ 2898 w 4588"/>
              <a:gd name="T43" fmla="*/ 1183 h 3952"/>
              <a:gd name="T44" fmla="*/ 2898 w 4588"/>
              <a:gd name="T45" fmla="*/ 1442 h 3952"/>
              <a:gd name="T46" fmla="*/ 2898 w 4588"/>
              <a:gd name="T47" fmla="*/ 1183 h 3952"/>
              <a:gd name="T48" fmla="*/ 3171 w 4588"/>
              <a:gd name="T49" fmla="*/ 1312 h 3952"/>
              <a:gd name="T50" fmla="*/ 3430 w 4588"/>
              <a:gd name="T51" fmla="*/ 1312 h 3952"/>
              <a:gd name="T52" fmla="*/ 3703 w 4588"/>
              <a:gd name="T53" fmla="*/ 1183 h 3952"/>
              <a:gd name="T54" fmla="*/ 3703 w 4588"/>
              <a:gd name="T55" fmla="*/ 1442 h 3952"/>
              <a:gd name="T56" fmla="*/ 3703 w 4588"/>
              <a:gd name="T57" fmla="*/ 1183 h 3952"/>
              <a:gd name="T58" fmla="*/ 1084 w 4588"/>
              <a:gd name="T59" fmla="*/ 1899 h 3952"/>
              <a:gd name="T60" fmla="*/ 1238 w 4588"/>
              <a:gd name="T61" fmla="*/ 1829 h 3952"/>
              <a:gd name="T62" fmla="*/ 1466 w 4588"/>
              <a:gd name="T63" fmla="*/ 1839 h 3952"/>
              <a:gd name="T64" fmla="*/ 1635 w 4588"/>
              <a:gd name="T65" fmla="*/ 1983 h 3952"/>
              <a:gd name="T66" fmla="*/ 1640 w 4588"/>
              <a:gd name="T67" fmla="*/ 2217 h 3952"/>
              <a:gd name="T68" fmla="*/ 1526 w 4588"/>
              <a:gd name="T69" fmla="*/ 2366 h 3952"/>
              <a:gd name="T70" fmla="*/ 1407 w 4588"/>
              <a:gd name="T71" fmla="*/ 2460 h 3952"/>
              <a:gd name="T72" fmla="*/ 1362 w 4588"/>
              <a:gd name="T73" fmla="*/ 2540 h 3952"/>
              <a:gd name="T74" fmla="*/ 1248 w 4588"/>
              <a:gd name="T75" fmla="*/ 2445 h 3952"/>
              <a:gd name="T76" fmla="*/ 1312 w 4588"/>
              <a:gd name="T77" fmla="*/ 2361 h 3952"/>
              <a:gd name="T78" fmla="*/ 1442 w 4588"/>
              <a:gd name="T79" fmla="*/ 2267 h 3952"/>
              <a:gd name="T80" fmla="*/ 1511 w 4588"/>
              <a:gd name="T81" fmla="*/ 2103 h 3952"/>
              <a:gd name="T82" fmla="*/ 1456 w 4588"/>
              <a:gd name="T83" fmla="*/ 1983 h 3952"/>
              <a:gd name="T84" fmla="*/ 1322 w 4588"/>
              <a:gd name="T85" fmla="*/ 1939 h 3952"/>
              <a:gd name="T86" fmla="*/ 1168 w 4588"/>
              <a:gd name="T87" fmla="*/ 1984 h 3952"/>
              <a:gd name="T88" fmla="*/ 1098 w 4588"/>
              <a:gd name="T89" fmla="*/ 2028 h 3952"/>
              <a:gd name="T90" fmla="*/ 1024 w 4588"/>
              <a:gd name="T91" fmla="*/ 1948 h 3952"/>
              <a:gd name="T92" fmla="*/ 1213 w 4588"/>
              <a:gd name="T93" fmla="*/ 2838 h 3952"/>
              <a:gd name="T94" fmla="*/ 1263 w 4588"/>
              <a:gd name="T95" fmla="*/ 2788 h 3952"/>
              <a:gd name="T96" fmla="*/ 1342 w 4588"/>
              <a:gd name="T97" fmla="*/ 2788 h 3952"/>
              <a:gd name="T98" fmla="*/ 1392 w 4588"/>
              <a:gd name="T99" fmla="*/ 2838 h 3952"/>
              <a:gd name="T100" fmla="*/ 1392 w 4588"/>
              <a:gd name="T101" fmla="*/ 2918 h 3952"/>
              <a:gd name="T102" fmla="*/ 1342 w 4588"/>
              <a:gd name="T103" fmla="*/ 2967 h 3952"/>
              <a:gd name="T104" fmla="*/ 1263 w 4588"/>
              <a:gd name="T105" fmla="*/ 2967 h 3952"/>
              <a:gd name="T106" fmla="*/ 1213 w 4588"/>
              <a:gd name="T107" fmla="*/ 2918 h 39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588" h="3952">
                <a:moveTo>
                  <a:pt x="1342" y="1084"/>
                </a:moveTo>
                <a:cubicBezTo>
                  <a:pt x="602" y="1084"/>
                  <a:pt x="0" y="1665"/>
                  <a:pt x="0" y="2386"/>
                </a:cubicBezTo>
                <a:cubicBezTo>
                  <a:pt x="0" y="2724"/>
                  <a:pt x="134" y="3037"/>
                  <a:pt x="358" y="3266"/>
                </a:cubicBezTo>
                <a:cubicBezTo>
                  <a:pt x="348" y="3489"/>
                  <a:pt x="313" y="3798"/>
                  <a:pt x="179" y="3952"/>
                </a:cubicBezTo>
                <a:cubicBezTo>
                  <a:pt x="437" y="3952"/>
                  <a:pt x="696" y="3743"/>
                  <a:pt x="855" y="3594"/>
                </a:cubicBezTo>
                <a:cubicBezTo>
                  <a:pt x="1009" y="3653"/>
                  <a:pt x="1173" y="3683"/>
                  <a:pt x="1347" y="3683"/>
                </a:cubicBezTo>
                <a:cubicBezTo>
                  <a:pt x="2087" y="3683"/>
                  <a:pt x="2689" y="3102"/>
                  <a:pt x="2689" y="2381"/>
                </a:cubicBezTo>
                <a:cubicBezTo>
                  <a:pt x="2689" y="1660"/>
                  <a:pt x="2083" y="1084"/>
                  <a:pt x="1342" y="1084"/>
                </a:cubicBezTo>
                <a:close/>
                <a:moveTo>
                  <a:pt x="1342" y="3569"/>
                </a:moveTo>
                <a:cubicBezTo>
                  <a:pt x="1188" y="3569"/>
                  <a:pt x="1034" y="3539"/>
                  <a:pt x="890" y="3485"/>
                </a:cubicBezTo>
                <a:cubicBezTo>
                  <a:pt x="825" y="3460"/>
                  <a:pt x="825" y="3460"/>
                  <a:pt x="825" y="3460"/>
                </a:cubicBezTo>
                <a:cubicBezTo>
                  <a:pt x="775" y="3509"/>
                  <a:pt x="775" y="3509"/>
                  <a:pt x="775" y="3509"/>
                </a:cubicBezTo>
                <a:cubicBezTo>
                  <a:pt x="686" y="3594"/>
                  <a:pt x="547" y="3718"/>
                  <a:pt x="393" y="3783"/>
                </a:cubicBezTo>
                <a:cubicBezTo>
                  <a:pt x="437" y="3644"/>
                  <a:pt x="467" y="3475"/>
                  <a:pt x="472" y="3266"/>
                </a:cubicBezTo>
                <a:cubicBezTo>
                  <a:pt x="472" y="3216"/>
                  <a:pt x="472" y="3216"/>
                  <a:pt x="472" y="3216"/>
                </a:cubicBezTo>
                <a:cubicBezTo>
                  <a:pt x="437" y="3181"/>
                  <a:pt x="437" y="3181"/>
                  <a:pt x="437" y="3181"/>
                </a:cubicBezTo>
                <a:cubicBezTo>
                  <a:pt x="229" y="2963"/>
                  <a:pt x="114" y="2675"/>
                  <a:pt x="114" y="2376"/>
                </a:cubicBezTo>
                <a:cubicBezTo>
                  <a:pt x="109" y="1725"/>
                  <a:pt x="661" y="1193"/>
                  <a:pt x="1342" y="1193"/>
                </a:cubicBezTo>
                <a:cubicBezTo>
                  <a:pt x="2018" y="1193"/>
                  <a:pt x="2570" y="1725"/>
                  <a:pt x="2570" y="2381"/>
                </a:cubicBezTo>
                <a:cubicBezTo>
                  <a:pt x="2570" y="3037"/>
                  <a:pt x="2018" y="3569"/>
                  <a:pt x="1342" y="3569"/>
                </a:cubicBezTo>
                <a:close/>
                <a:moveTo>
                  <a:pt x="4399" y="2888"/>
                </a:moveTo>
                <a:cubicBezTo>
                  <a:pt x="4305" y="2779"/>
                  <a:pt x="4245" y="2555"/>
                  <a:pt x="4235" y="2262"/>
                </a:cubicBezTo>
                <a:cubicBezTo>
                  <a:pt x="4464" y="2013"/>
                  <a:pt x="4588" y="1695"/>
                  <a:pt x="4588" y="1357"/>
                </a:cubicBezTo>
                <a:cubicBezTo>
                  <a:pt x="4588" y="606"/>
                  <a:pt x="3962" y="0"/>
                  <a:pt x="3191" y="0"/>
                </a:cubicBezTo>
                <a:cubicBezTo>
                  <a:pt x="2679" y="0"/>
                  <a:pt x="2207" y="273"/>
                  <a:pt x="1963" y="706"/>
                </a:cubicBezTo>
                <a:cubicBezTo>
                  <a:pt x="1948" y="731"/>
                  <a:pt x="1958" y="765"/>
                  <a:pt x="1983" y="780"/>
                </a:cubicBezTo>
                <a:cubicBezTo>
                  <a:pt x="2008" y="795"/>
                  <a:pt x="2043" y="785"/>
                  <a:pt x="2058" y="761"/>
                </a:cubicBezTo>
                <a:cubicBezTo>
                  <a:pt x="2281" y="358"/>
                  <a:pt x="2719" y="109"/>
                  <a:pt x="3186" y="109"/>
                </a:cubicBezTo>
                <a:cubicBezTo>
                  <a:pt x="3897" y="109"/>
                  <a:pt x="4473" y="666"/>
                  <a:pt x="4473" y="1352"/>
                </a:cubicBezTo>
                <a:cubicBezTo>
                  <a:pt x="4473" y="1665"/>
                  <a:pt x="4354" y="1963"/>
                  <a:pt x="4135" y="2197"/>
                </a:cubicBezTo>
                <a:cubicBezTo>
                  <a:pt x="4120" y="2212"/>
                  <a:pt x="4120" y="2212"/>
                  <a:pt x="4120" y="2212"/>
                </a:cubicBezTo>
                <a:cubicBezTo>
                  <a:pt x="4120" y="2237"/>
                  <a:pt x="4120" y="2237"/>
                  <a:pt x="4120" y="2237"/>
                </a:cubicBezTo>
                <a:cubicBezTo>
                  <a:pt x="4125" y="2431"/>
                  <a:pt x="4155" y="2674"/>
                  <a:pt x="4245" y="2848"/>
                </a:cubicBezTo>
                <a:cubicBezTo>
                  <a:pt x="4036" y="2799"/>
                  <a:pt x="3832" y="2630"/>
                  <a:pt x="3723" y="2520"/>
                </a:cubicBezTo>
                <a:cubicBezTo>
                  <a:pt x="3698" y="2495"/>
                  <a:pt x="3698" y="2495"/>
                  <a:pt x="3698" y="2495"/>
                </a:cubicBezTo>
                <a:cubicBezTo>
                  <a:pt x="3663" y="2510"/>
                  <a:pt x="3663" y="2510"/>
                  <a:pt x="3663" y="2510"/>
                </a:cubicBezTo>
                <a:cubicBezTo>
                  <a:pt x="3514" y="2570"/>
                  <a:pt x="3355" y="2600"/>
                  <a:pt x="3191" y="2600"/>
                </a:cubicBezTo>
                <a:cubicBezTo>
                  <a:pt x="3161" y="2600"/>
                  <a:pt x="3136" y="2625"/>
                  <a:pt x="3136" y="2654"/>
                </a:cubicBezTo>
                <a:cubicBezTo>
                  <a:pt x="3136" y="2684"/>
                  <a:pt x="3161" y="2709"/>
                  <a:pt x="3191" y="2709"/>
                </a:cubicBezTo>
                <a:cubicBezTo>
                  <a:pt x="3355" y="2709"/>
                  <a:pt x="3519" y="2679"/>
                  <a:pt x="3673" y="2625"/>
                </a:cubicBezTo>
                <a:cubicBezTo>
                  <a:pt x="3852" y="2789"/>
                  <a:pt x="4105" y="2973"/>
                  <a:pt x="4359" y="2973"/>
                </a:cubicBezTo>
                <a:cubicBezTo>
                  <a:pt x="4483" y="2973"/>
                  <a:pt x="4483" y="2973"/>
                  <a:pt x="4483" y="2973"/>
                </a:cubicBezTo>
                <a:lnTo>
                  <a:pt x="4399" y="2888"/>
                </a:lnTo>
                <a:close/>
                <a:moveTo>
                  <a:pt x="2898" y="1183"/>
                </a:moveTo>
                <a:cubicBezTo>
                  <a:pt x="2823" y="1183"/>
                  <a:pt x="2769" y="1243"/>
                  <a:pt x="2769" y="1312"/>
                </a:cubicBezTo>
                <a:cubicBezTo>
                  <a:pt x="2769" y="1387"/>
                  <a:pt x="2828" y="1442"/>
                  <a:pt x="2898" y="1442"/>
                </a:cubicBezTo>
                <a:cubicBezTo>
                  <a:pt x="2973" y="1442"/>
                  <a:pt x="3027" y="1382"/>
                  <a:pt x="3027" y="1312"/>
                </a:cubicBezTo>
                <a:cubicBezTo>
                  <a:pt x="3027" y="1238"/>
                  <a:pt x="2973" y="1183"/>
                  <a:pt x="2898" y="1183"/>
                </a:cubicBezTo>
                <a:close/>
                <a:moveTo>
                  <a:pt x="3301" y="1183"/>
                </a:moveTo>
                <a:cubicBezTo>
                  <a:pt x="3226" y="1183"/>
                  <a:pt x="3171" y="1243"/>
                  <a:pt x="3171" y="1312"/>
                </a:cubicBezTo>
                <a:cubicBezTo>
                  <a:pt x="3171" y="1387"/>
                  <a:pt x="3231" y="1442"/>
                  <a:pt x="3301" y="1442"/>
                </a:cubicBezTo>
                <a:cubicBezTo>
                  <a:pt x="3370" y="1442"/>
                  <a:pt x="3430" y="1382"/>
                  <a:pt x="3430" y="1312"/>
                </a:cubicBezTo>
                <a:cubicBezTo>
                  <a:pt x="3430" y="1238"/>
                  <a:pt x="3370" y="1183"/>
                  <a:pt x="3301" y="1183"/>
                </a:cubicBezTo>
                <a:close/>
                <a:moveTo>
                  <a:pt x="3703" y="1183"/>
                </a:moveTo>
                <a:cubicBezTo>
                  <a:pt x="3629" y="1183"/>
                  <a:pt x="3574" y="1243"/>
                  <a:pt x="3574" y="1312"/>
                </a:cubicBezTo>
                <a:cubicBezTo>
                  <a:pt x="3574" y="1387"/>
                  <a:pt x="3633" y="1442"/>
                  <a:pt x="3703" y="1442"/>
                </a:cubicBezTo>
                <a:cubicBezTo>
                  <a:pt x="3778" y="1442"/>
                  <a:pt x="3833" y="1382"/>
                  <a:pt x="3833" y="1312"/>
                </a:cubicBezTo>
                <a:cubicBezTo>
                  <a:pt x="3833" y="1238"/>
                  <a:pt x="3773" y="1183"/>
                  <a:pt x="3703" y="1183"/>
                </a:cubicBezTo>
                <a:close/>
                <a:moveTo>
                  <a:pt x="1024" y="1948"/>
                </a:moveTo>
                <a:cubicBezTo>
                  <a:pt x="1044" y="1934"/>
                  <a:pt x="1064" y="1914"/>
                  <a:pt x="1084" y="1899"/>
                </a:cubicBezTo>
                <a:cubicBezTo>
                  <a:pt x="1103" y="1884"/>
                  <a:pt x="1128" y="1869"/>
                  <a:pt x="1153" y="1859"/>
                </a:cubicBezTo>
                <a:cubicBezTo>
                  <a:pt x="1178" y="1849"/>
                  <a:pt x="1208" y="1839"/>
                  <a:pt x="1238" y="1829"/>
                </a:cubicBezTo>
                <a:cubicBezTo>
                  <a:pt x="1268" y="1819"/>
                  <a:pt x="1302" y="1819"/>
                  <a:pt x="1337" y="1819"/>
                </a:cubicBezTo>
                <a:cubicBezTo>
                  <a:pt x="1382" y="1819"/>
                  <a:pt x="1427" y="1824"/>
                  <a:pt x="1466" y="1839"/>
                </a:cubicBezTo>
                <a:cubicBezTo>
                  <a:pt x="1506" y="1854"/>
                  <a:pt x="1541" y="1869"/>
                  <a:pt x="1566" y="1894"/>
                </a:cubicBezTo>
                <a:cubicBezTo>
                  <a:pt x="1596" y="1919"/>
                  <a:pt x="1616" y="1948"/>
                  <a:pt x="1635" y="1983"/>
                </a:cubicBezTo>
                <a:cubicBezTo>
                  <a:pt x="1650" y="2018"/>
                  <a:pt x="1660" y="2058"/>
                  <a:pt x="1660" y="2102"/>
                </a:cubicBezTo>
                <a:cubicBezTo>
                  <a:pt x="1660" y="2147"/>
                  <a:pt x="1655" y="2187"/>
                  <a:pt x="1640" y="2217"/>
                </a:cubicBezTo>
                <a:cubicBezTo>
                  <a:pt x="1625" y="2247"/>
                  <a:pt x="1610" y="2276"/>
                  <a:pt x="1591" y="2301"/>
                </a:cubicBezTo>
                <a:cubicBezTo>
                  <a:pt x="1571" y="2326"/>
                  <a:pt x="1551" y="2346"/>
                  <a:pt x="1526" y="2366"/>
                </a:cubicBezTo>
                <a:cubicBezTo>
                  <a:pt x="1501" y="2386"/>
                  <a:pt x="1481" y="2401"/>
                  <a:pt x="1461" y="2416"/>
                </a:cubicBezTo>
                <a:cubicBezTo>
                  <a:pt x="1442" y="2431"/>
                  <a:pt x="1422" y="2446"/>
                  <a:pt x="1407" y="2460"/>
                </a:cubicBezTo>
                <a:cubicBezTo>
                  <a:pt x="1392" y="2475"/>
                  <a:pt x="1377" y="2475"/>
                  <a:pt x="1372" y="2495"/>
                </a:cubicBezTo>
                <a:cubicBezTo>
                  <a:pt x="1362" y="2540"/>
                  <a:pt x="1362" y="2540"/>
                  <a:pt x="1362" y="2540"/>
                </a:cubicBezTo>
                <a:cubicBezTo>
                  <a:pt x="1257" y="2540"/>
                  <a:pt x="1257" y="2540"/>
                  <a:pt x="1257" y="2540"/>
                </a:cubicBezTo>
                <a:cubicBezTo>
                  <a:pt x="1248" y="2445"/>
                  <a:pt x="1248" y="2445"/>
                  <a:pt x="1248" y="2445"/>
                </a:cubicBezTo>
                <a:cubicBezTo>
                  <a:pt x="1248" y="2421"/>
                  <a:pt x="1253" y="2421"/>
                  <a:pt x="1263" y="2401"/>
                </a:cubicBezTo>
                <a:cubicBezTo>
                  <a:pt x="1272" y="2381"/>
                  <a:pt x="1292" y="2376"/>
                  <a:pt x="1312" y="2361"/>
                </a:cubicBezTo>
                <a:cubicBezTo>
                  <a:pt x="1332" y="2346"/>
                  <a:pt x="1352" y="2331"/>
                  <a:pt x="1377" y="2316"/>
                </a:cubicBezTo>
                <a:cubicBezTo>
                  <a:pt x="1402" y="2301"/>
                  <a:pt x="1422" y="2286"/>
                  <a:pt x="1442" y="2267"/>
                </a:cubicBezTo>
                <a:cubicBezTo>
                  <a:pt x="1461" y="2247"/>
                  <a:pt x="1481" y="2227"/>
                  <a:pt x="1491" y="2197"/>
                </a:cubicBezTo>
                <a:cubicBezTo>
                  <a:pt x="1506" y="2172"/>
                  <a:pt x="1511" y="2142"/>
                  <a:pt x="1511" y="2103"/>
                </a:cubicBezTo>
                <a:cubicBezTo>
                  <a:pt x="1511" y="2078"/>
                  <a:pt x="1506" y="2053"/>
                  <a:pt x="1496" y="2033"/>
                </a:cubicBezTo>
                <a:cubicBezTo>
                  <a:pt x="1486" y="2013"/>
                  <a:pt x="1471" y="1993"/>
                  <a:pt x="1456" y="1983"/>
                </a:cubicBezTo>
                <a:cubicBezTo>
                  <a:pt x="1441" y="1968"/>
                  <a:pt x="1422" y="1959"/>
                  <a:pt x="1397" y="1949"/>
                </a:cubicBezTo>
                <a:cubicBezTo>
                  <a:pt x="1372" y="1939"/>
                  <a:pt x="1347" y="1939"/>
                  <a:pt x="1322" y="1939"/>
                </a:cubicBezTo>
                <a:cubicBezTo>
                  <a:pt x="1287" y="1939"/>
                  <a:pt x="1257" y="1944"/>
                  <a:pt x="1233" y="1954"/>
                </a:cubicBezTo>
                <a:cubicBezTo>
                  <a:pt x="1208" y="1964"/>
                  <a:pt x="1188" y="1974"/>
                  <a:pt x="1168" y="1984"/>
                </a:cubicBezTo>
                <a:cubicBezTo>
                  <a:pt x="1148" y="1994"/>
                  <a:pt x="1138" y="2003"/>
                  <a:pt x="1123" y="2014"/>
                </a:cubicBezTo>
                <a:cubicBezTo>
                  <a:pt x="1113" y="2023"/>
                  <a:pt x="1103" y="2028"/>
                  <a:pt x="1098" y="2028"/>
                </a:cubicBezTo>
                <a:cubicBezTo>
                  <a:pt x="1083" y="2028"/>
                  <a:pt x="1074" y="2023"/>
                  <a:pt x="1064" y="2009"/>
                </a:cubicBezTo>
                <a:lnTo>
                  <a:pt x="1024" y="1948"/>
                </a:lnTo>
                <a:close/>
                <a:moveTo>
                  <a:pt x="1208" y="2878"/>
                </a:moveTo>
                <a:cubicBezTo>
                  <a:pt x="1208" y="2863"/>
                  <a:pt x="1208" y="2853"/>
                  <a:pt x="1213" y="2838"/>
                </a:cubicBezTo>
                <a:cubicBezTo>
                  <a:pt x="1218" y="2828"/>
                  <a:pt x="1223" y="2818"/>
                  <a:pt x="1233" y="2808"/>
                </a:cubicBezTo>
                <a:cubicBezTo>
                  <a:pt x="1243" y="2798"/>
                  <a:pt x="1253" y="2793"/>
                  <a:pt x="1263" y="2788"/>
                </a:cubicBezTo>
                <a:cubicBezTo>
                  <a:pt x="1273" y="2783"/>
                  <a:pt x="1288" y="2779"/>
                  <a:pt x="1303" y="2779"/>
                </a:cubicBezTo>
                <a:cubicBezTo>
                  <a:pt x="1317" y="2779"/>
                  <a:pt x="1327" y="2784"/>
                  <a:pt x="1342" y="2788"/>
                </a:cubicBezTo>
                <a:cubicBezTo>
                  <a:pt x="1352" y="2793"/>
                  <a:pt x="1362" y="2798"/>
                  <a:pt x="1372" y="2808"/>
                </a:cubicBezTo>
                <a:cubicBezTo>
                  <a:pt x="1382" y="2818"/>
                  <a:pt x="1387" y="2828"/>
                  <a:pt x="1392" y="2838"/>
                </a:cubicBezTo>
                <a:cubicBezTo>
                  <a:pt x="1397" y="2848"/>
                  <a:pt x="1402" y="2863"/>
                  <a:pt x="1402" y="2878"/>
                </a:cubicBezTo>
                <a:cubicBezTo>
                  <a:pt x="1402" y="2893"/>
                  <a:pt x="1397" y="2903"/>
                  <a:pt x="1392" y="2918"/>
                </a:cubicBezTo>
                <a:cubicBezTo>
                  <a:pt x="1387" y="2928"/>
                  <a:pt x="1382" y="2938"/>
                  <a:pt x="1372" y="2948"/>
                </a:cubicBezTo>
                <a:cubicBezTo>
                  <a:pt x="1362" y="2958"/>
                  <a:pt x="1352" y="2963"/>
                  <a:pt x="1342" y="2967"/>
                </a:cubicBezTo>
                <a:cubicBezTo>
                  <a:pt x="1332" y="2973"/>
                  <a:pt x="1317" y="2973"/>
                  <a:pt x="1303" y="2973"/>
                </a:cubicBezTo>
                <a:cubicBezTo>
                  <a:pt x="1288" y="2973"/>
                  <a:pt x="1278" y="2973"/>
                  <a:pt x="1263" y="2967"/>
                </a:cubicBezTo>
                <a:cubicBezTo>
                  <a:pt x="1253" y="2962"/>
                  <a:pt x="1243" y="2958"/>
                  <a:pt x="1233" y="2948"/>
                </a:cubicBezTo>
                <a:cubicBezTo>
                  <a:pt x="1223" y="2938"/>
                  <a:pt x="1218" y="2928"/>
                  <a:pt x="1213" y="2918"/>
                </a:cubicBezTo>
                <a:cubicBezTo>
                  <a:pt x="1213" y="2903"/>
                  <a:pt x="1208" y="2888"/>
                  <a:pt x="1208" y="287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3" name="QuestionsTitle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486832" y="3708400"/>
            <a:ext cx="11252200" cy="697627"/>
          </a:xfrm>
        </p:spPr>
        <p:txBody>
          <a:bodyPr/>
          <a:lstStyle>
            <a:lvl1pPr marL="0" indent="0" algn="ctr">
              <a:buNone/>
              <a:defRPr sz="3733" b="1">
                <a:latin typeface="+mj-lt"/>
              </a:defRPr>
            </a:lvl1pPr>
          </a:lstStyle>
          <a:p>
            <a:pPr lvl="0"/>
            <a:r>
              <a:rPr lang="en-GB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458151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RF_Presentatio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CF00DC3E-3D0E-4073-B303-9B8C1ADFB803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070" y="452967"/>
            <a:ext cx="3595972" cy="400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LegalEntityBox"/>
          <p:cNvSpPr txBox="1"/>
          <p:nvPr userDrawn="1">
            <p:custDataLst>
              <p:tags r:id="rId2"/>
            </p:custDataLst>
          </p:nvPr>
        </p:nvSpPr>
        <p:spPr>
          <a:xfrm>
            <a:off x="456014" y="6146628"/>
            <a:ext cx="713337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067">
                <a:solidFill>
                  <a:schemeClr val="bg2"/>
                </a:solidFill>
                <a:latin typeface="+mn-lt"/>
              </a:rPr>
              <a:t>Legal Entity</a:t>
            </a:r>
          </a:p>
        </p:txBody>
      </p:sp>
      <p:sp>
        <p:nvSpPr>
          <p:cNvPr id="11" name="Date"/>
          <p:cNvSpPr txBox="1"/>
          <p:nvPr userDrawn="1">
            <p:custDataLst>
              <p:tags r:id="rId3"/>
            </p:custDataLst>
          </p:nvPr>
        </p:nvSpPr>
        <p:spPr>
          <a:xfrm>
            <a:off x="456001" y="6325702"/>
            <a:ext cx="288541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067">
                <a:solidFill>
                  <a:schemeClr val="bg2"/>
                </a:solidFill>
                <a:latin typeface="+mn-lt"/>
              </a:rPr>
              <a:t>Date</a:t>
            </a:r>
          </a:p>
        </p:txBody>
      </p:sp>
      <p:sp>
        <p:nvSpPr>
          <p:cNvPr id="8" name="Title"/>
          <p:cNvSpPr>
            <a:spLocks noGrp="1"/>
          </p:cNvSpPr>
          <p:nvPr>
            <p:ph type="body" sz="quarter" idx="19" hasCustomPrompt="1"/>
            <p:custDataLst>
              <p:tags r:id="rId4"/>
            </p:custDataLst>
          </p:nvPr>
        </p:nvSpPr>
        <p:spPr>
          <a:xfrm>
            <a:off x="456000" y="1833065"/>
            <a:ext cx="8435089" cy="171447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lang="en-GB" sz="3200" b="1" i="0" kern="1200" cap="none" spc="-93" baseline="0" dirty="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lang="en-GB" sz="3200" b="1" i="1" kern="1200" cap="none" spc="-93" baseline="0" dirty="0">
                <a:solidFill>
                  <a:schemeClr val="accent4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spcBef>
                <a:spcPts val="7594"/>
              </a:spcBef>
              <a:buNone/>
              <a:defRPr sz="21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GB"/>
              <a:t>Presentation Title</a:t>
            </a:r>
          </a:p>
          <a:p>
            <a:pPr lvl="1"/>
            <a:r>
              <a:rPr lang="en-GB"/>
              <a:t>Sub-title</a:t>
            </a:r>
          </a:p>
        </p:txBody>
      </p:sp>
      <p:sp>
        <p:nvSpPr>
          <p:cNvPr id="10" name="Presenters"/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455998" y="3547531"/>
            <a:ext cx="8436119" cy="227414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buNone/>
              <a:defRPr lang="en-GB" sz="1600" b="1" i="0" kern="1200" cap="none" spc="0" baseline="0" dirty="0" smtClean="0">
                <a:solidFill>
                  <a:schemeClr val="accent4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lang="en-GB" sz="1600" b="0" i="0" kern="1200" cap="none" spc="0" baseline="0" dirty="0">
                <a:solidFill>
                  <a:schemeClr val="accent4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spcBef>
                <a:spcPts val="7594"/>
              </a:spcBef>
              <a:buNone/>
              <a:defRPr sz="21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GB"/>
              <a:t>Presenter name</a:t>
            </a:r>
          </a:p>
          <a:p>
            <a:pPr lvl="1"/>
            <a:r>
              <a:rPr lang="en-GB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063424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RF_Presentation cover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verImage">
            <a:extLst>
              <a:ext uri="{FF2B5EF4-FFF2-40B4-BE49-F238E27FC236}">
                <a16:creationId xmlns:a16="http://schemas.microsoft.com/office/drawing/2014/main" id="{6D6331AA-2018-410D-BDE2-0A5814AFC80F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6144000" y="0"/>
            <a:ext cx="6048000" cy="685800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333"/>
            </a:lvl1pPr>
          </a:lstStyle>
          <a:p>
            <a:r>
              <a:rPr lang="en-US"/>
              <a:t>Click Picture button on NRF tab to insert picture</a:t>
            </a:r>
            <a:endParaRPr lang="en-GB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F00DC3E-3D0E-4073-B303-9B8C1ADFB803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070" y="452967"/>
            <a:ext cx="3595972" cy="400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itle"/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456000" y="1833065"/>
            <a:ext cx="5591317" cy="171447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lang="en-GB" sz="3200" b="1" i="0" kern="1200" cap="none" spc="-93" baseline="0" dirty="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lang="en-GB" sz="3200" b="1" i="1" kern="1200" cap="none" spc="-93" baseline="0" dirty="0">
                <a:solidFill>
                  <a:schemeClr val="accent4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spcBef>
                <a:spcPts val="7594"/>
              </a:spcBef>
              <a:buNone/>
              <a:defRPr sz="21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GB"/>
              <a:t>Presentation Title</a:t>
            </a:r>
          </a:p>
          <a:p>
            <a:pPr lvl="1"/>
            <a:r>
              <a:rPr lang="en-GB"/>
              <a:t>Sub-title</a:t>
            </a:r>
          </a:p>
        </p:txBody>
      </p:sp>
      <p:sp>
        <p:nvSpPr>
          <p:cNvPr id="14" name="Presenters"/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5999" y="3547531"/>
            <a:ext cx="5592000" cy="227414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buNone/>
              <a:defRPr lang="en-GB" sz="1600" b="1" i="0" kern="1200" cap="none" spc="0" baseline="0" dirty="0" smtClean="0">
                <a:solidFill>
                  <a:schemeClr val="accent4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lang="en-GB" sz="1600" b="0" i="0" kern="1200" cap="none" spc="0" baseline="0" dirty="0">
                <a:solidFill>
                  <a:schemeClr val="accent4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spcBef>
                <a:spcPts val="7594"/>
              </a:spcBef>
              <a:buNone/>
              <a:defRPr sz="21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GB"/>
              <a:t>Presenter name</a:t>
            </a:r>
          </a:p>
          <a:p>
            <a:pPr lvl="1"/>
            <a:r>
              <a:rPr lang="en-GB"/>
              <a:t>Presenter title</a:t>
            </a:r>
          </a:p>
        </p:txBody>
      </p:sp>
      <p:sp>
        <p:nvSpPr>
          <p:cNvPr id="2" name="LegalEntityBox"/>
          <p:cNvSpPr txBox="1"/>
          <p:nvPr userDrawn="1">
            <p:custDataLst>
              <p:tags r:id="rId5"/>
            </p:custDataLst>
          </p:nvPr>
        </p:nvSpPr>
        <p:spPr>
          <a:xfrm>
            <a:off x="456014" y="5973233"/>
            <a:ext cx="4208780" cy="33764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GB" sz="1067">
                <a:solidFill>
                  <a:schemeClr val="bg2"/>
                </a:solidFill>
                <a:latin typeface="+mn-lt"/>
              </a:rPr>
              <a:t>NRFC</a:t>
            </a:r>
          </a:p>
        </p:txBody>
      </p:sp>
      <p:sp>
        <p:nvSpPr>
          <p:cNvPr id="9" name="Date"/>
          <p:cNvSpPr txBox="1"/>
          <p:nvPr userDrawn="1">
            <p:custDataLst>
              <p:tags r:id="rId6"/>
            </p:custDataLst>
          </p:nvPr>
        </p:nvSpPr>
        <p:spPr>
          <a:xfrm>
            <a:off x="456001" y="6325702"/>
            <a:ext cx="551433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067">
                <a:solidFill>
                  <a:schemeClr val="bg2"/>
                </a:solidFill>
                <a:latin typeface="+mn-lt"/>
              </a:rPr>
              <a:t>Apr 2026</a:t>
            </a:r>
          </a:p>
        </p:txBody>
      </p:sp>
    </p:spTree>
    <p:extLst>
      <p:ext uri="{BB962C8B-B14F-4D97-AF65-F5344CB8AC3E}">
        <p14:creationId xmlns:p14="http://schemas.microsoft.com/office/powerpoint/2010/main" val="2677227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RF_Standard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4919971" y="3601197"/>
            <a:ext cx="2396912" cy="233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056"/>
              </a:spcAft>
              <a:buFontTx/>
              <a:buNone/>
              <a:defRPr lang="en-US" sz="600" b="0" i="0" kern="1200" baseline="0" smtClean="0">
                <a:solidFill>
                  <a:schemeClr val="accent5"/>
                </a:solidFill>
                <a:effectLst/>
                <a:latin typeface="+mn-lt"/>
                <a:ea typeface="Arial Hebrew" charset="-79"/>
                <a:cs typeface="Arial Hebrew" charset="-79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872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792"/>
              </a:spcAft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363538" indent="-1778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5508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7380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9252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11124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12996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 fontAlgn="auto"/>
            <a:r>
              <a:rPr lang="en-GB" sz="1600" b="0" i="1" kern="1200" baseline="0">
                <a:solidFill>
                  <a:schemeClr val="tx1"/>
                </a:solidFill>
                <a:latin typeface="Georgia" panose="02040502050405020303" pitchFamily="18" charset="0"/>
                <a:ea typeface="Georgia" charset="0"/>
                <a:cs typeface="Georgia" charset="0"/>
              </a:rPr>
              <a:t>Law around the world</a:t>
            </a:r>
          </a:p>
        </p:txBody>
      </p:sp>
      <p:sp>
        <p:nvSpPr>
          <p:cNvPr id="7" name="Text Placeholder 22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4919971" y="3934440"/>
            <a:ext cx="2396912" cy="1948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056"/>
              </a:spcAft>
              <a:buFontTx/>
              <a:buNone/>
              <a:defRPr lang="en-US" sz="600" b="0" i="0" kern="1200" baseline="0" smtClean="0">
                <a:solidFill>
                  <a:schemeClr val="accent5"/>
                </a:solidFill>
                <a:effectLst/>
                <a:latin typeface="+mn-lt"/>
                <a:ea typeface="Arial Hebrew" charset="-79"/>
                <a:cs typeface="Arial Hebrew" charset="-79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872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792"/>
              </a:spcAft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363538" indent="-1778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5508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7380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9252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11124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1299600" indent="-1836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48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1408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charset="0"/>
              </a:rPr>
              <a:t>nortonrosefulbright.com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4044" y="2400228"/>
            <a:ext cx="6271528" cy="697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Disclaimer_Shape"/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>
          <a:xfrm>
            <a:off x="456917" y="4368802"/>
            <a:ext cx="11280000" cy="2089789"/>
          </a:xfrm>
        </p:spPr>
        <p:txBody>
          <a:bodyPr anchor="b"/>
          <a:lstStyle>
            <a:lvl1pPr>
              <a:defRPr sz="1067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43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theme" Target="../theme/theme2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8" r:id="rId3"/>
    <p:sldLayoutId id="2147483679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95192-0BF5-774E-8F4F-45D2BEE65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000" y="1847851"/>
            <a:ext cx="11280000" cy="4125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styles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558186336"/>
              </p:ext>
            </p:ext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270" imgH="270" progId="TCLayout.ActiveDocument.1">
                  <p:embed/>
                </p:oleObj>
              </mc:Choice>
              <mc:Fallback>
                <p:oleObj name="think-cell Slide" r:id="rId2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32C28-DBD7-4EC8-9C1F-70E8A83C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455083"/>
            <a:ext cx="11280000" cy="6985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123B9-2524-4BDC-9A39-F8C693D9C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384" y="6325701"/>
            <a:ext cx="5232000" cy="164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67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0E324-5A17-4C51-B7E8-22811E6DE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0851" y="6325701"/>
            <a:ext cx="240000" cy="164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67" b="1">
                <a:solidFill>
                  <a:schemeClr val="accent4"/>
                </a:solidFill>
              </a:defRPr>
            </a:lvl1pPr>
          </a:lstStyle>
          <a:p>
            <a:fld id="{8AE658E8-9B3B-41CF-9D54-C22306B86F2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0FF9FBED-19A2-4AB6-9DAE-39D293F7AC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267607" y="6116492"/>
            <a:ext cx="469311" cy="341905"/>
            <a:chOff x="2400" y="1820"/>
            <a:chExt cx="943" cy="687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A45C856-F6CB-4DA1-86AE-ABFF50F1E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820"/>
              <a:ext cx="409" cy="286"/>
            </a:xfrm>
            <a:custGeom>
              <a:avLst/>
              <a:gdLst>
                <a:gd name="T0" fmla="*/ 0 w 409"/>
                <a:gd name="T1" fmla="*/ 286 h 286"/>
                <a:gd name="T2" fmla="*/ 206 w 409"/>
                <a:gd name="T3" fmla="*/ 130 h 286"/>
                <a:gd name="T4" fmla="*/ 409 w 409"/>
                <a:gd name="T5" fmla="*/ 286 h 286"/>
                <a:gd name="T6" fmla="*/ 206 w 409"/>
                <a:gd name="T7" fmla="*/ 0 h 286"/>
                <a:gd name="T8" fmla="*/ 0 w 409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86">
                  <a:moveTo>
                    <a:pt x="0" y="286"/>
                  </a:moveTo>
                  <a:lnTo>
                    <a:pt x="206" y="130"/>
                  </a:lnTo>
                  <a:lnTo>
                    <a:pt x="409" y="286"/>
                  </a:lnTo>
                  <a:lnTo>
                    <a:pt x="206" y="0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rgbClr val="B18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D53C7AEC-0396-410D-91AD-9D9C02419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2143"/>
              <a:ext cx="295" cy="364"/>
            </a:xfrm>
            <a:custGeom>
              <a:avLst/>
              <a:gdLst>
                <a:gd name="T0" fmla="*/ 0 w 125"/>
                <a:gd name="T1" fmla="*/ 0 h 154"/>
                <a:gd name="T2" fmla="*/ 0 w 125"/>
                <a:gd name="T3" fmla="*/ 151 h 154"/>
                <a:gd name="T4" fmla="*/ 24 w 125"/>
                <a:gd name="T5" fmla="*/ 151 h 154"/>
                <a:gd name="T6" fmla="*/ 23 w 125"/>
                <a:gd name="T7" fmla="*/ 39 h 154"/>
                <a:gd name="T8" fmla="*/ 125 w 125"/>
                <a:gd name="T9" fmla="*/ 154 h 154"/>
                <a:gd name="T10" fmla="*/ 125 w 125"/>
                <a:gd name="T11" fmla="*/ 0 h 154"/>
                <a:gd name="T12" fmla="*/ 100 w 125"/>
                <a:gd name="T13" fmla="*/ 0 h 154"/>
                <a:gd name="T14" fmla="*/ 102 w 125"/>
                <a:gd name="T15" fmla="*/ 89 h 154"/>
                <a:gd name="T16" fmla="*/ 24 w 125"/>
                <a:gd name="T17" fmla="*/ 0 h 154"/>
                <a:gd name="T18" fmla="*/ 0 w 125"/>
                <a:gd name="T19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154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2" y="78"/>
                    <a:pt x="102" y="89"/>
                  </a:cubicBezTo>
                  <a:cubicBezTo>
                    <a:pt x="95" y="80"/>
                    <a:pt x="24" y="0"/>
                    <a:pt x="2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27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46909CF-76A9-493A-9CB9-B01A9AF27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2143"/>
              <a:ext cx="253" cy="357"/>
            </a:xfrm>
            <a:custGeom>
              <a:avLst/>
              <a:gdLst>
                <a:gd name="T0" fmla="*/ 45 w 107"/>
                <a:gd name="T1" fmla="*/ 67 h 151"/>
                <a:gd name="T2" fmla="*/ 24 w 107"/>
                <a:gd name="T3" fmla="*/ 67 h 151"/>
                <a:gd name="T4" fmla="*/ 24 w 107"/>
                <a:gd name="T5" fmla="*/ 38 h 151"/>
                <a:gd name="T6" fmla="*/ 24 w 107"/>
                <a:gd name="T7" fmla="*/ 21 h 151"/>
                <a:gd name="T8" fmla="*/ 36 w 107"/>
                <a:gd name="T9" fmla="*/ 21 h 151"/>
                <a:gd name="T10" fmla="*/ 56 w 107"/>
                <a:gd name="T11" fmla="*/ 21 h 151"/>
                <a:gd name="T12" fmla="*/ 83 w 107"/>
                <a:gd name="T13" fmla="*/ 21 h 151"/>
                <a:gd name="T14" fmla="*/ 83 w 107"/>
                <a:gd name="T15" fmla="*/ 21 h 151"/>
                <a:gd name="T16" fmla="*/ 96 w 107"/>
                <a:gd name="T17" fmla="*/ 21 h 151"/>
                <a:gd name="T18" fmla="*/ 107 w 107"/>
                <a:gd name="T19" fmla="*/ 0 h 151"/>
                <a:gd name="T20" fmla="*/ 80 w 107"/>
                <a:gd name="T21" fmla="*/ 0 h 151"/>
                <a:gd name="T22" fmla="*/ 80 w 107"/>
                <a:gd name="T23" fmla="*/ 0 h 151"/>
                <a:gd name="T24" fmla="*/ 48 w 107"/>
                <a:gd name="T25" fmla="*/ 0 h 151"/>
                <a:gd name="T26" fmla="*/ 3 w 107"/>
                <a:gd name="T27" fmla="*/ 0 h 151"/>
                <a:gd name="T28" fmla="*/ 0 w 107"/>
                <a:gd name="T29" fmla="*/ 0 h 151"/>
                <a:gd name="T30" fmla="*/ 0 w 107"/>
                <a:gd name="T31" fmla="*/ 30 h 151"/>
                <a:gd name="T32" fmla="*/ 1 w 107"/>
                <a:gd name="T33" fmla="*/ 74 h 151"/>
                <a:gd name="T34" fmla="*/ 0 w 107"/>
                <a:gd name="T35" fmla="*/ 106 h 151"/>
                <a:gd name="T36" fmla="*/ 0 w 107"/>
                <a:gd name="T37" fmla="*/ 151 h 151"/>
                <a:gd name="T38" fmla="*/ 24 w 107"/>
                <a:gd name="T39" fmla="*/ 151 h 151"/>
                <a:gd name="T40" fmla="*/ 24 w 107"/>
                <a:gd name="T41" fmla="*/ 108 h 151"/>
                <a:gd name="T42" fmla="*/ 24 w 107"/>
                <a:gd name="T43" fmla="*/ 88 h 151"/>
                <a:gd name="T44" fmla="*/ 44 w 107"/>
                <a:gd name="T45" fmla="*/ 88 h 151"/>
                <a:gd name="T46" fmla="*/ 78 w 107"/>
                <a:gd name="T47" fmla="*/ 89 h 151"/>
                <a:gd name="T48" fmla="*/ 97 w 107"/>
                <a:gd name="T49" fmla="*/ 89 h 151"/>
                <a:gd name="T50" fmla="*/ 97 w 107"/>
                <a:gd name="T51" fmla="*/ 67 h 151"/>
                <a:gd name="T52" fmla="*/ 76 w 107"/>
                <a:gd name="T53" fmla="*/ 67 h 151"/>
                <a:gd name="T54" fmla="*/ 45 w 107"/>
                <a:gd name="T55" fmla="*/ 6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151">
                  <a:moveTo>
                    <a:pt x="45" y="67"/>
                  </a:moveTo>
                  <a:cubicBezTo>
                    <a:pt x="24" y="67"/>
                    <a:pt x="24" y="67"/>
                    <a:pt x="24" y="67"/>
                  </a:cubicBezTo>
                  <a:cubicBezTo>
                    <a:pt x="24" y="60"/>
                    <a:pt x="24" y="38"/>
                    <a:pt x="24" y="38"/>
                  </a:cubicBezTo>
                  <a:cubicBezTo>
                    <a:pt x="24" y="38"/>
                    <a:pt x="24" y="24"/>
                    <a:pt x="24" y="21"/>
                  </a:cubicBezTo>
                  <a:cubicBezTo>
                    <a:pt x="28" y="21"/>
                    <a:pt x="36" y="21"/>
                    <a:pt x="36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74"/>
                    <a:pt x="1" y="74"/>
                    <a:pt x="1" y="7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24" y="108"/>
                    <a:pt x="24" y="92"/>
                    <a:pt x="24" y="88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4" y="88"/>
                    <a:pt x="78" y="89"/>
                    <a:pt x="78" y="89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76" y="67"/>
                    <a:pt x="76" y="67"/>
                    <a:pt x="76" y="67"/>
                  </a:cubicBezTo>
                  <a:lnTo>
                    <a:pt x="45" y="67"/>
                  </a:lnTo>
                  <a:close/>
                </a:path>
              </a:pathLst>
            </a:custGeom>
            <a:solidFill>
              <a:srgbClr val="DD27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50878-EB36-408C-BFFC-1AD84DC9F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2143"/>
              <a:ext cx="274" cy="364"/>
            </a:xfrm>
            <a:custGeom>
              <a:avLst/>
              <a:gdLst>
                <a:gd name="T0" fmla="*/ 39 w 116"/>
                <a:gd name="T1" fmla="*/ 82 h 154"/>
                <a:gd name="T2" fmla="*/ 97 w 116"/>
                <a:gd name="T3" fmla="*/ 154 h 154"/>
                <a:gd name="T4" fmla="*/ 116 w 116"/>
                <a:gd name="T5" fmla="*/ 138 h 154"/>
                <a:gd name="T6" fmla="*/ 71 w 116"/>
                <a:gd name="T7" fmla="*/ 84 h 154"/>
                <a:gd name="T8" fmla="*/ 87 w 116"/>
                <a:gd name="T9" fmla="*/ 71 h 154"/>
                <a:gd name="T10" fmla="*/ 97 w 116"/>
                <a:gd name="T11" fmla="*/ 43 h 154"/>
                <a:gd name="T12" fmla="*/ 90 w 116"/>
                <a:gd name="T13" fmla="*/ 20 h 154"/>
                <a:gd name="T14" fmla="*/ 71 w 116"/>
                <a:gd name="T15" fmla="*/ 6 h 154"/>
                <a:gd name="T16" fmla="*/ 53 w 116"/>
                <a:gd name="T17" fmla="*/ 1 h 154"/>
                <a:gd name="T18" fmla="*/ 34 w 116"/>
                <a:gd name="T19" fmla="*/ 0 h 154"/>
                <a:gd name="T20" fmla="*/ 14 w 116"/>
                <a:gd name="T21" fmla="*/ 0 h 154"/>
                <a:gd name="T22" fmla="*/ 0 w 116"/>
                <a:gd name="T23" fmla="*/ 0 h 154"/>
                <a:gd name="T24" fmla="*/ 0 w 116"/>
                <a:gd name="T25" fmla="*/ 3 h 154"/>
                <a:gd name="T26" fmla="*/ 0 w 116"/>
                <a:gd name="T27" fmla="*/ 56 h 154"/>
                <a:gd name="T28" fmla="*/ 0 w 116"/>
                <a:gd name="T29" fmla="*/ 76 h 154"/>
                <a:gd name="T30" fmla="*/ 0 w 116"/>
                <a:gd name="T31" fmla="*/ 123 h 154"/>
                <a:gd name="T32" fmla="*/ 0 w 116"/>
                <a:gd name="T33" fmla="*/ 151 h 154"/>
                <a:gd name="T34" fmla="*/ 24 w 116"/>
                <a:gd name="T35" fmla="*/ 151 h 154"/>
                <a:gd name="T36" fmla="*/ 24 w 116"/>
                <a:gd name="T37" fmla="*/ 116 h 154"/>
                <a:gd name="T38" fmla="*/ 24 w 116"/>
                <a:gd name="T39" fmla="*/ 76 h 154"/>
                <a:gd name="T40" fmla="*/ 24 w 116"/>
                <a:gd name="T41" fmla="*/ 54 h 154"/>
                <a:gd name="T42" fmla="*/ 24 w 116"/>
                <a:gd name="T43" fmla="*/ 21 h 154"/>
                <a:gd name="T44" fmla="*/ 29 w 116"/>
                <a:gd name="T45" fmla="*/ 21 h 154"/>
                <a:gd name="T46" fmla="*/ 44 w 116"/>
                <a:gd name="T47" fmla="*/ 21 h 154"/>
                <a:gd name="T48" fmla="*/ 57 w 116"/>
                <a:gd name="T49" fmla="*/ 24 h 154"/>
                <a:gd name="T50" fmla="*/ 68 w 116"/>
                <a:gd name="T51" fmla="*/ 32 h 154"/>
                <a:gd name="T52" fmla="*/ 71 w 116"/>
                <a:gd name="T53" fmla="*/ 46 h 154"/>
                <a:gd name="T54" fmla="*/ 69 w 116"/>
                <a:gd name="T55" fmla="*/ 59 h 154"/>
                <a:gd name="T56" fmla="*/ 62 w 116"/>
                <a:gd name="T57" fmla="*/ 68 h 154"/>
                <a:gd name="T58" fmla="*/ 51 w 116"/>
                <a:gd name="T59" fmla="*/ 76 h 154"/>
                <a:gd name="T60" fmla="*/ 39 w 116"/>
                <a:gd name="T61" fmla="*/ 8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154">
                  <a:moveTo>
                    <a:pt x="39" y="82"/>
                  </a:moveTo>
                  <a:cubicBezTo>
                    <a:pt x="97" y="154"/>
                    <a:pt x="97" y="154"/>
                    <a:pt x="97" y="154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71" y="84"/>
                    <a:pt x="81" y="76"/>
                    <a:pt x="87" y="71"/>
                  </a:cubicBezTo>
                  <a:cubicBezTo>
                    <a:pt x="93" y="63"/>
                    <a:pt x="97" y="54"/>
                    <a:pt x="97" y="43"/>
                  </a:cubicBezTo>
                  <a:cubicBezTo>
                    <a:pt x="97" y="34"/>
                    <a:pt x="95" y="27"/>
                    <a:pt x="90" y="20"/>
                  </a:cubicBezTo>
                  <a:cubicBezTo>
                    <a:pt x="85" y="14"/>
                    <a:pt x="79" y="9"/>
                    <a:pt x="71" y="6"/>
                  </a:cubicBezTo>
                  <a:cubicBezTo>
                    <a:pt x="65" y="3"/>
                    <a:pt x="59" y="1"/>
                    <a:pt x="53" y="1"/>
                  </a:cubicBezTo>
                  <a:cubicBezTo>
                    <a:pt x="47" y="0"/>
                    <a:pt x="41" y="0"/>
                    <a:pt x="34" y="0"/>
                  </a:cubicBezTo>
                  <a:cubicBezTo>
                    <a:pt x="34" y="0"/>
                    <a:pt x="14" y="0"/>
                    <a:pt x="14" y="0"/>
                  </a:cubicBezTo>
                  <a:cubicBezTo>
                    <a:pt x="14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56"/>
                    <a:pt x="0" y="5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9" y="21"/>
                    <a:pt x="44" y="21"/>
                    <a:pt x="44" y="21"/>
                  </a:cubicBezTo>
                  <a:cubicBezTo>
                    <a:pt x="49" y="22"/>
                    <a:pt x="53" y="23"/>
                    <a:pt x="57" y="24"/>
                  </a:cubicBezTo>
                  <a:cubicBezTo>
                    <a:pt x="61" y="26"/>
                    <a:pt x="65" y="29"/>
                    <a:pt x="68" y="32"/>
                  </a:cubicBezTo>
                  <a:cubicBezTo>
                    <a:pt x="70" y="36"/>
                    <a:pt x="71" y="40"/>
                    <a:pt x="71" y="46"/>
                  </a:cubicBezTo>
                  <a:cubicBezTo>
                    <a:pt x="71" y="51"/>
                    <a:pt x="70" y="56"/>
                    <a:pt x="69" y="59"/>
                  </a:cubicBezTo>
                  <a:cubicBezTo>
                    <a:pt x="67" y="63"/>
                    <a:pt x="65" y="66"/>
                    <a:pt x="62" y="68"/>
                  </a:cubicBezTo>
                  <a:cubicBezTo>
                    <a:pt x="59" y="71"/>
                    <a:pt x="56" y="74"/>
                    <a:pt x="51" y="76"/>
                  </a:cubicBezTo>
                  <a:cubicBezTo>
                    <a:pt x="45" y="80"/>
                    <a:pt x="39" y="82"/>
                    <a:pt x="39" y="82"/>
                  </a:cubicBezTo>
                </a:path>
              </a:pathLst>
            </a:custGeom>
            <a:solidFill>
              <a:srgbClr val="DD27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398407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</p:sldLayoutIdLst>
  <p:hf sldNum="0" hdr="0" ftr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lang="en-US" sz="3200" b="1" kern="1200" baseline="0" dirty="0">
          <a:solidFill>
            <a:schemeClr val="tx2"/>
          </a:solidFill>
          <a:latin typeface="+mj-lt"/>
          <a:ea typeface="Georgia" charset="0"/>
          <a:cs typeface="Georgia" charset="0"/>
        </a:defRPr>
      </a:lvl1pPr>
    </p:titleStyle>
    <p:bodyStyle>
      <a:lvl1pPr marL="241294" marR="0" indent="-241294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chemeClr val="tx2"/>
        </a:buClr>
        <a:buSzTx/>
        <a:buFont typeface="Arial" panose="020B0604020202020204" pitchFamily="34" charset="0"/>
        <a:buChar char="•"/>
        <a:tabLst/>
        <a:defRPr lang="en-US" sz="1867" b="0" kern="1200" baseline="0" dirty="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1pPr>
      <a:lvl2pPr marL="239178" marR="0" indent="-239178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chemeClr val="tx2"/>
        </a:buClr>
        <a:buSzTx/>
        <a:buFont typeface="Arial" panose="020B0604020202020204" pitchFamily="34" charset="0"/>
        <a:buChar char="•"/>
        <a:tabLst/>
        <a:defRPr lang="en-US" sz="1867" b="0" kern="1200" baseline="0" dirty="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2pPr>
      <a:lvl3pPr marL="239178" marR="0" indent="-239178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chemeClr val="tx2"/>
        </a:buClr>
        <a:buSzTx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3pPr>
      <a:lvl4pPr marL="478355" marR="0" indent="-239178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rgbClr val="DD2720"/>
        </a:buClr>
        <a:buSzTx/>
        <a:buFont typeface="Arial" pitchFamily="34" charset="0"/>
        <a:buChar char="–"/>
        <a:tabLst/>
        <a:defRPr sz="1867" b="0" i="0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4pPr>
      <a:lvl5pPr marL="479988" marR="0" indent="-239994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rgbClr val="DD2720"/>
        </a:buClr>
        <a:buSzTx/>
        <a:buFont typeface="Arial" pitchFamily="34" charset="0"/>
        <a:buChar char="–"/>
        <a:tabLst/>
        <a:defRPr sz="1867" b="0" i="0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5pPr>
      <a:lvl6pPr marL="479988" marR="0" indent="-239994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rgbClr val="DD2720"/>
        </a:buClr>
        <a:buSzTx/>
        <a:buFont typeface="Arial" pitchFamily="34" charset="0"/>
        <a:buChar char="–"/>
        <a:tabLst/>
        <a:defRPr sz="1867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6pPr>
      <a:lvl7pPr marL="479988" marR="0" indent="-239994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rgbClr val="DD2720"/>
        </a:buClr>
        <a:buSzTx/>
        <a:buFont typeface="Arial" pitchFamily="34" charset="0"/>
        <a:buChar char="–"/>
        <a:tabLst/>
        <a:defRPr sz="1867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7pPr>
      <a:lvl8pPr marL="479988" marR="0" indent="-239994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rgbClr val="DD2720"/>
        </a:buClr>
        <a:buSzTx/>
        <a:buFont typeface="Arial" pitchFamily="34" charset="0"/>
        <a:buChar char="–"/>
        <a:tabLst/>
        <a:defRPr sz="1867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8pPr>
      <a:lvl9pPr marL="479988" marR="0" indent="-239994" algn="l" defTabSz="1219170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>
          <a:srgbClr val="DD2720"/>
        </a:buClr>
        <a:buSzTx/>
        <a:buFont typeface="Arial" pitchFamily="34" charset="0"/>
        <a:buChar char="–"/>
        <a:tabLst/>
        <a:defRPr lang="en-US" sz="1867" b="0" kern="1200" baseline="0" dirty="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7" Type="http://schemas.openxmlformats.org/officeDocument/2006/relationships/image" Target="../media/image5.jpe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9.xml"/><Relationship Id="rId4" Type="http://schemas.openxmlformats.org/officeDocument/2006/relationships/tags" Target="../tags/tag1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68.xml"/><Relationship Id="rId18" Type="http://schemas.openxmlformats.org/officeDocument/2006/relationships/tags" Target="../tags/tag173.xml"/><Relationship Id="rId26" Type="http://schemas.openxmlformats.org/officeDocument/2006/relationships/tags" Target="../tags/tag181.xml"/><Relationship Id="rId39" Type="http://schemas.openxmlformats.org/officeDocument/2006/relationships/notesSlide" Target="../notesSlides/notesSlide4.xml"/><Relationship Id="rId21" Type="http://schemas.openxmlformats.org/officeDocument/2006/relationships/tags" Target="../tags/tag176.xml"/><Relationship Id="rId34" Type="http://schemas.openxmlformats.org/officeDocument/2006/relationships/tags" Target="../tags/tag189.xml"/><Relationship Id="rId7" Type="http://schemas.openxmlformats.org/officeDocument/2006/relationships/tags" Target="../tags/tag162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20" Type="http://schemas.openxmlformats.org/officeDocument/2006/relationships/tags" Target="../tags/tag175.xml"/><Relationship Id="rId29" Type="http://schemas.openxmlformats.org/officeDocument/2006/relationships/tags" Target="../tags/tag184.xml"/><Relationship Id="rId41" Type="http://schemas.openxmlformats.org/officeDocument/2006/relationships/image" Target="../media/image7.png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24" Type="http://schemas.openxmlformats.org/officeDocument/2006/relationships/tags" Target="../tags/tag179.xml"/><Relationship Id="rId32" Type="http://schemas.openxmlformats.org/officeDocument/2006/relationships/tags" Target="../tags/tag187.xml"/><Relationship Id="rId37" Type="http://schemas.openxmlformats.org/officeDocument/2006/relationships/tags" Target="../tags/tag192.xml"/><Relationship Id="rId40" Type="http://schemas.openxmlformats.org/officeDocument/2006/relationships/image" Target="../media/image6.png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23" Type="http://schemas.openxmlformats.org/officeDocument/2006/relationships/tags" Target="../tags/tag178.xml"/><Relationship Id="rId28" Type="http://schemas.openxmlformats.org/officeDocument/2006/relationships/tags" Target="../tags/tag183.xml"/><Relationship Id="rId36" Type="http://schemas.openxmlformats.org/officeDocument/2006/relationships/tags" Target="../tags/tag191.xml"/><Relationship Id="rId10" Type="http://schemas.openxmlformats.org/officeDocument/2006/relationships/tags" Target="../tags/tag165.xml"/><Relationship Id="rId19" Type="http://schemas.openxmlformats.org/officeDocument/2006/relationships/tags" Target="../tags/tag174.xml"/><Relationship Id="rId31" Type="http://schemas.openxmlformats.org/officeDocument/2006/relationships/tags" Target="../tags/tag186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Relationship Id="rId22" Type="http://schemas.openxmlformats.org/officeDocument/2006/relationships/tags" Target="../tags/tag177.xml"/><Relationship Id="rId27" Type="http://schemas.openxmlformats.org/officeDocument/2006/relationships/tags" Target="../tags/tag182.xml"/><Relationship Id="rId30" Type="http://schemas.openxmlformats.org/officeDocument/2006/relationships/tags" Target="../tags/tag185.xml"/><Relationship Id="rId35" Type="http://schemas.openxmlformats.org/officeDocument/2006/relationships/tags" Target="../tags/tag190.xml"/><Relationship Id="rId8" Type="http://schemas.openxmlformats.org/officeDocument/2006/relationships/tags" Target="../tags/tag163.xml"/><Relationship Id="rId3" Type="http://schemas.openxmlformats.org/officeDocument/2006/relationships/tags" Target="../tags/tag158.xml"/><Relationship Id="rId12" Type="http://schemas.openxmlformats.org/officeDocument/2006/relationships/tags" Target="../tags/tag167.xml"/><Relationship Id="rId17" Type="http://schemas.openxmlformats.org/officeDocument/2006/relationships/tags" Target="../tags/tag172.xml"/><Relationship Id="rId25" Type="http://schemas.openxmlformats.org/officeDocument/2006/relationships/tags" Target="../tags/tag180.xml"/><Relationship Id="rId33" Type="http://schemas.openxmlformats.org/officeDocument/2006/relationships/tags" Target="../tags/tag188.xml"/><Relationship Id="rId38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3"/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/>
        </p:blipFill>
        <p:spPr/>
      </p:pic>
      <p:sp>
        <p:nvSpPr>
          <p:cNvPr id="3" name="Text Placeholder 2"/>
          <p:cNvSpPr>
            <a:spLocks noGrp="1"/>
          </p:cNvSpPr>
          <p:nvPr>
            <p:ph type="body" sz="quarter" idx="19"/>
            <p:custDataLst>
              <p:tags r:id="rId3"/>
            </p:custDataLst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GB">
                <a:cs typeface="Arial"/>
              </a:rPr>
              <a:t>NRFC Slow Integration </a:t>
            </a:r>
            <a:endParaRPr lang="en-GB"/>
          </a:p>
          <a:p>
            <a:endParaRPr lang="en-US" sz="2133">
              <a:solidFill>
                <a:srgbClr val="333333"/>
              </a:solidFill>
            </a:endParaRPr>
          </a:p>
          <a:p>
            <a:r>
              <a:rPr lang="en-US" sz="2100">
                <a:solidFill>
                  <a:srgbClr val="333333"/>
                </a:solidFill>
                <a:cs typeface="Arial"/>
              </a:rPr>
              <a:t>Implementation Knowledge Transfer</a:t>
            </a:r>
            <a:endParaRPr lang="en-US" sz="2100">
              <a:cs typeface="Arial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  <p:custDataLst>
              <p:tags r:id="rId4"/>
            </p:custDataLst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GB">
              <a:cs typeface="Arial"/>
            </a:endParaRPr>
          </a:p>
          <a:p>
            <a:r>
              <a:rPr lang="en-GB">
                <a:cs typeface="Arial"/>
              </a:rPr>
              <a:t>Oct -26</a:t>
            </a:r>
          </a:p>
          <a:p>
            <a:r>
              <a:rPr lang="en-GB">
                <a:cs typeface="Arial"/>
              </a:rPr>
              <a:t>Slalom</a:t>
            </a:r>
          </a:p>
          <a:p>
            <a:r>
              <a:rPr lang="en-GB">
                <a:cs typeface="Arial"/>
              </a:rPr>
              <a:t>Data Engineering Team</a:t>
            </a:r>
            <a:endParaRPr lang="en-GB"/>
          </a:p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73D6C0-4BD0-3A99-1B5A-6B408852B7E9}"/>
              </a:ext>
            </a:extLst>
          </p:cNvPr>
          <p:cNvSpPr/>
          <p:nvPr/>
        </p:nvSpPr>
        <p:spPr>
          <a:xfrm>
            <a:off x="358815" y="5949387"/>
            <a:ext cx="879676" cy="740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3244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learning journey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25780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59536" y="156362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Project context + solution architecture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59536" y="1947672"/>
            <a:ext cx="4910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281928" y="1417320"/>
            <a:ext cx="525780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483096" y="156362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Fabric organization + environment boundaries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483096" y="1947672"/>
            <a:ext cx="4910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58368" y="2834640"/>
            <a:ext cx="525780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58368" y="283464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59536" y="3364992"/>
            <a:ext cx="4910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281928" y="2834640"/>
            <a:ext cx="525780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281928" y="283464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83096" y="3364992"/>
            <a:ext cx="4910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58368" y="4251960"/>
            <a:ext cx="525780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32104" y="306324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Development + data standards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59536" y="4782312"/>
            <a:ext cx="4910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6281928" y="4251960"/>
            <a:ext cx="525780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281928" y="425196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483096" y="439826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Monitoring, CI/CD + handover (Thursday)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6483096" y="4782312"/>
            <a:ext cx="4910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" y="444398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Metadata-driven execution framework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455664" y="3030143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Lakehouse + medallion design</a:t>
            </a:r>
            <a:endParaRPr lang="en-US"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1A1B85-94FE-F908-9E15-FBAE399EC02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48640" y="6426796"/>
            <a:ext cx="382659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sz="800"/>
              <a:t>NRFC Slow Integration | Implementation Knowledge Transfer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Canada needs this architecture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objective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685800" y="1709928"/>
            <a:ext cx="52120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Governed, standardized batch integration from Canada source systems.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curates authoritative regional data while aligning with Global canonical standards.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repeatable onboarding and controlled Canada ↔ Global exchange.</a:t>
            </a:r>
            <a:endParaRPr lang="en-US" sz="112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257800" cy="1234440"/>
          </a:xfrm>
          <a:prstGeom prst="roundRect">
            <a:avLst>
              <a:gd name="adj" fmla="val 3704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82296" cy="12344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64808" y="147218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platform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464808" y="1856232"/>
            <a:ext cx="49103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onboarding instead of isolated ETL jobs.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6263640" y="2788920"/>
            <a:ext cx="5257800" cy="1234440"/>
          </a:xfrm>
          <a:prstGeom prst="roundRect">
            <a:avLst>
              <a:gd name="adj" fmla="val 3704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6263640" y="2788920"/>
            <a:ext cx="82296" cy="12344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464808" y="293522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contracts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464808" y="3319272"/>
            <a:ext cx="49103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Gold structures provide a stable downstream boundary.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263640" y="4251960"/>
            <a:ext cx="5257800" cy="1234440"/>
          </a:xfrm>
          <a:prstGeom prst="roundRect">
            <a:avLst>
              <a:gd name="adj" fmla="val 3704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263640" y="4251960"/>
            <a:ext cx="82296" cy="12344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464808" y="439826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by design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6464808" y="4782312"/>
            <a:ext cx="49103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Watermarks, logging, reconciliation and monitoring are built into the runtime.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BC90748F-C395-0194-97DC-5F9C4BBF8F1D}"/>
              </a:ext>
            </a:extLst>
          </p:cNvPr>
          <p:cNvSpPr/>
          <p:nvPr/>
        </p:nvSpPr>
        <p:spPr>
          <a:xfrm>
            <a:off x="502920" y="347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0B1F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Fabric architecture layers: where things live</a:t>
            </a: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3DF5AA2-8CE9-E65F-23DC-BA112F5F4750}"/>
              </a:ext>
            </a:extLst>
          </p:cNvPr>
          <p:cNvSpPr/>
          <p:nvPr/>
        </p:nvSpPr>
        <p:spPr>
          <a:xfrm>
            <a:off x="521208" y="8229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FABRIC PLATFORM DESIGN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218052E-948E-583B-39BE-8350B19040B4}"/>
              </a:ext>
            </a:extLst>
          </p:cNvPr>
          <p:cNvSpPr/>
          <p:nvPr/>
        </p:nvSpPr>
        <p:spPr>
          <a:xfrm>
            <a:off x="1143000" y="1188720"/>
            <a:ext cx="9875520" cy="731520"/>
          </a:xfrm>
          <a:prstGeom prst="roundRect">
            <a:avLst/>
          </a:prstGeom>
          <a:solidFill>
            <a:srgbClr val="E6EDF3"/>
          </a:solidFill>
          <a:ln w="22860">
            <a:solidFill>
              <a:srgbClr val="0B1F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43494C0-8AE2-DFCE-07E4-B609B07BC71A}"/>
              </a:ext>
            </a:extLst>
          </p:cNvPr>
          <p:cNvSpPr/>
          <p:nvPr/>
        </p:nvSpPr>
        <p:spPr>
          <a:xfrm>
            <a:off x="1371600" y="13807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Tenant / OneLake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767E70D-7F8A-F21D-2058-02D26D4D0939}"/>
              </a:ext>
            </a:extLst>
          </p:cNvPr>
          <p:cNvSpPr/>
          <p:nvPr/>
        </p:nvSpPr>
        <p:spPr>
          <a:xfrm>
            <a:off x="3383280" y="1380744"/>
            <a:ext cx="736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739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Organization-wide logical data foundation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DF9DCB1B-028C-0D31-9863-6394EA8BD4A3}"/>
              </a:ext>
            </a:extLst>
          </p:cNvPr>
          <p:cNvSpPr/>
          <p:nvPr/>
        </p:nvSpPr>
        <p:spPr>
          <a:xfrm>
            <a:off x="1554480" y="2130552"/>
            <a:ext cx="9052560" cy="731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057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BD04659-1420-6A63-AE01-E8781F7FCDB4}"/>
              </a:ext>
            </a:extLst>
          </p:cNvPr>
          <p:cNvSpPr/>
          <p:nvPr/>
        </p:nvSpPr>
        <p:spPr>
          <a:xfrm>
            <a:off x="1783080" y="2322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Capacity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8515203-A561-65E4-4C74-75A0E92E8D1B}"/>
              </a:ext>
            </a:extLst>
          </p:cNvPr>
          <p:cNvSpPr/>
          <p:nvPr/>
        </p:nvSpPr>
        <p:spPr>
          <a:xfrm>
            <a:off x="3794760" y="232257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739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Compute boundary shared by Fabric workloads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AE678D9-61DD-0492-4D0D-CE93FEB58BB0}"/>
              </a:ext>
            </a:extLst>
          </p:cNvPr>
          <p:cNvSpPr/>
          <p:nvPr/>
        </p:nvSpPr>
        <p:spPr>
          <a:xfrm>
            <a:off x="1965960" y="3072384"/>
            <a:ext cx="8229600" cy="731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77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B0ADD739-FB9E-167B-B059-B2073D674A42}"/>
              </a:ext>
            </a:extLst>
          </p:cNvPr>
          <p:cNvSpPr/>
          <p:nvPr/>
        </p:nvSpPr>
        <p:spPr>
          <a:xfrm>
            <a:off x="2194560" y="3264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Workspace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851C843-8B01-6056-788D-CFE20C2F49A8}"/>
              </a:ext>
            </a:extLst>
          </p:cNvPr>
          <p:cNvSpPr/>
          <p:nvPr/>
        </p:nvSpPr>
        <p:spPr>
          <a:xfrm>
            <a:off x="4206240" y="326440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739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Environment / team / solution management boundary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B28419A5-B482-A4B7-0A80-41B49C25BFB5}"/>
              </a:ext>
            </a:extLst>
          </p:cNvPr>
          <p:cNvSpPr/>
          <p:nvPr/>
        </p:nvSpPr>
        <p:spPr>
          <a:xfrm>
            <a:off x="2377440" y="4014216"/>
            <a:ext cx="7406640" cy="731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F9D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304B6AC6-A6C9-A0A7-2142-3DA964BA9311}"/>
              </a:ext>
            </a:extLst>
          </p:cNvPr>
          <p:cNvSpPr/>
          <p:nvPr/>
        </p:nvSpPr>
        <p:spPr>
          <a:xfrm>
            <a:off x="260604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Fabric items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2FEC4E89-6A5D-84FB-6CAC-1C5D678E9781}"/>
              </a:ext>
            </a:extLst>
          </p:cNvPr>
          <p:cNvSpPr/>
          <p:nvPr/>
        </p:nvSpPr>
        <p:spPr>
          <a:xfrm>
            <a:off x="4617720" y="420624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739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Lakehouse • Warehouse • Pipeline • Notebook • SQL DB • semantic model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8092FF5C-A6FF-C28B-9A39-402FC6B8B223}"/>
              </a:ext>
            </a:extLst>
          </p:cNvPr>
          <p:cNvSpPr/>
          <p:nvPr/>
        </p:nvSpPr>
        <p:spPr>
          <a:xfrm>
            <a:off x="2788920" y="4956048"/>
            <a:ext cx="6583680" cy="731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6A9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5594DB2-84A2-7D8E-6B8D-D3A7A9DD4A54}"/>
              </a:ext>
            </a:extLst>
          </p:cNvPr>
          <p:cNvSpPr/>
          <p:nvPr/>
        </p:nvSpPr>
        <p:spPr>
          <a:xfrm>
            <a:off x="3017520" y="5148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1F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EB350508-0BCA-CBAE-E564-0CE0B41B8EB5}"/>
              </a:ext>
            </a:extLst>
          </p:cNvPr>
          <p:cNvSpPr/>
          <p:nvPr/>
        </p:nvSpPr>
        <p:spPr>
          <a:xfrm>
            <a:off x="5029200" y="51480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739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Files + Delta tables + schemas + shortcuts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8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6D6F8-73CA-F4BB-130B-FBED83E5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FB796D4-9F18-2FA2-3CD7-61133DC769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872255" y="980453"/>
            <a:ext cx="6841509" cy="4332124"/>
          </a:xfrm>
          <a:prstGeom prst="rect">
            <a:avLst/>
          </a:prstGeom>
          <a:solidFill>
            <a:srgbClr val="FFFFCC"/>
          </a:solidFill>
          <a:ln w="0">
            <a:solidFill>
              <a:srgbClr val="70717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t"/>
          <a:lstStyle/>
          <a:p>
            <a:pPr algn="ctr"/>
            <a:r>
              <a:rPr lang="en-GB" sz="1067" b="1">
                <a:solidFill>
                  <a:schemeClr val="tx1"/>
                </a:solidFill>
              </a:rPr>
              <a:t>Canada Global </a:t>
            </a:r>
            <a:r>
              <a:rPr lang="en-GB" sz="1067">
                <a:solidFill>
                  <a:schemeClr val="tx1"/>
                </a:solidFill>
              </a:rPr>
              <a:t>Workspace</a:t>
            </a:r>
            <a:endParaRPr lang="en-GB" sz="1067">
              <a:solidFill>
                <a:schemeClr val="tx1"/>
              </a:solidFill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A58B9-AABD-E681-091D-3BAD67A48EC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6000" y="233409"/>
            <a:ext cx="11366545" cy="718115"/>
          </a:xfrm>
        </p:spPr>
        <p:txBody>
          <a:bodyPr/>
          <a:lstStyle/>
          <a:p>
            <a:r>
              <a:rPr lang="en-GB" sz="2400"/>
              <a:t>High Level Solution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534A59-BDEA-14AA-2287-E8F123F9971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60519" y="5335010"/>
            <a:ext cx="416596" cy="32808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219C266-FF9A-FEEA-D876-CCFE607FF9F5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702" y="5353629"/>
            <a:ext cx="649481" cy="37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4488AB5C-7D85-3AE7-EC9F-DE16AFBC188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69457" y="979628"/>
            <a:ext cx="2123151" cy="1163960"/>
          </a:xfrm>
          <a:prstGeom prst="rect">
            <a:avLst/>
          </a:prstGeom>
          <a:solidFill>
            <a:srgbClr val="FFFFCC"/>
          </a:solidFill>
          <a:ln w="3175">
            <a:solidFill>
              <a:srgbClr val="70717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t"/>
          <a:lstStyle/>
          <a:p>
            <a:pPr algn="ctr"/>
            <a:r>
              <a:rPr lang="en-GB" sz="1067" b="1">
                <a:solidFill>
                  <a:schemeClr val="tx1"/>
                </a:solidFill>
              </a:rPr>
              <a:t>Global </a:t>
            </a:r>
            <a:r>
              <a:rPr lang="en-GB" sz="1067">
                <a:solidFill>
                  <a:schemeClr val="tx1"/>
                </a:solidFill>
              </a:rPr>
              <a:t>Workspace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A7B2A7A-53B8-2D90-6F55-EB154A57FD7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97036" y="1324587"/>
            <a:ext cx="1749539" cy="650707"/>
          </a:xfrm>
          <a:prstGeom prst="rect">
            <a:avLst/>
          </a:prstGeom>
          <a:solidFill>
            <a:srgbClr val="C6EFFE"/>
          </a:solidFill>
          <a:ln w="3175">
            <a:solidFill>
              <a:srgbClr val="70717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t"/>
          <a:lstStyle/>
          <a:p>
            <a:pPr algn="ctr"/>
            <a:r>
              <a:rPr lang="en-GB" sz="1067">
                <a:solidFill>
                  <a:schemeClr val="tx1"/>
                </a:solidFill>
              </a:rPr>
              <a:t>Fabric Lakehouse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6978BDC-412C-B133-F56F-3A2FF6BF2B1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58265" y="1628742"/>
            <a:ext cx="1427084" cy="268837"/>
          </a:xfrm>
          <a:prstGeom prst="rect">
            <a:avLst/>
          </a:prstGeom>
          <a:solidFill>
            <a:srgbClr val="F7D3C1"/>
          </a:solidFill>
          <a:ln w="0">
            <a:solidFill>
              <a:srgbClr val="CB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/>
            <a:r>
              <a:rPr lang="en-GB" sz="933">
                <a:solidFill>
                  <a:schemeClr val="tx1"/>
                </a:solidFill>
              </a:rPr>
              <a:t>Curated Layer 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E329B2B-D7B4-E344-9CD4-686FB1A5371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238444" y="1543183"/>
            <a:ext cx="6016393" cy="1734600"/>
          </a:xfrm>
          <a:prstGeom prst="rect">
            <a:avLst/>
          </a:prstGeom>
          <a:solidFill>
            <a:srgbClr val="C6EFFE"/>
          </a:solidFill>
          <a:ln w="3175">
            <a:solidFill>
              <a:srgbClr val="70717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t"/>
          <a:lstStyle/>
          <a:p>
            <a:pPr algn="ctr"/>
            <a:r>
              <a:rPr lang="en-GB" sz="1067">
                <a:solidFill>
                  <a:schemeClr val="tx1"/>
                </a:solidFill>
              </a:rPr>
              <a:t>Canada Global </a:t>
            </a:r>
            <a:r>
              <a:rPr lang="en-GB" sz="1067" b="1">
                <a:solidFill>
                  <a:schemeClr val="tx1"/>
                </a:solidFill>
              </a:rPr>
              <a:t>Lakehouse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72EDE30-F8CC-335C-930B-BAF5D8B9B64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731101" y="2598953"/>
            <a:ext cx="1098867" cy="403699"/>
          </a:xfrm>
          <a:prstGeom prst="rect">
            <a:avLst/>
          </a:prstGeom>
          <a:solidFill>
            <a:schemeClr val="bg1"/>
          </a:solidFill>
          <a:ln w="3175" cap="sq">
            <a:solidFill>
              <a:srgbClr val="CBB14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 anchorCtr="0"/>
          <a:lstStyle/>
          <a:p>
            <a:pPr algn="ctr"/>
            <a:r>
              <a:rPr lang="en-GB" sz="1200" b="1">
                <a:solidFill>
                  <a:schemeClr val="tx1"/>
                </a:solidFill>
              </a:rPr>
              <a:t>Gold layer </a:t>
            </a:r>
          </a:p>
        </p:txBody>
      </p:sp>
      <p:cxnSp>
        <p:nvCxnSpPr>
          <p:cNvPr id="3085" name="Straight Arrow Connector 3084">
            <a:extLst>
              <a:ext uri="{FF2B5EF4-FFF2-40B4-BE49-F238E27FC236}">
                <a16:creationId xmlns:a16="http://schemas.microsoft.com/office/drawing/2014/main" id="{4D058F43-052C-1876-5337-A5DF4E61DF51}"/>
              </a:ext>
            </a:extLst>
          </p:cNvPr>
          <p:cNvCxnSpPr>
            <a:cxnSpLocks/>
            <a:stCxn id="11" idx="3"/>
            <a:endCxn id="120" idx="1"/>
          </p:cNvCxnSpPr>
          <p:nvPr>
            <p:custDataLst>
              <p:tags r:id="rId11"/>
            </p:custDataLst>
          </p:nvPr>
        </p:nvCxnSpPr>
        <p:spPr>
          <a:xfrm flipV="1">
            <a:off x="5779834" y="2800804"/>
            <a:ext cx="1951268" cy="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209B0F2E-0DC1-E335-DFD7-6CC3DAAF8CFE}"/>
              </a:ext>
            </a:extLst>
          </p:cNvPr>
          <p:cNvCxnSpPr>
            <a:cxnSpLocks/>
            <a:stCxn id="36" idx="1"/>
          </p:cNvCxnSpPr>
          <p:nvPr>
            <p:custDataLst>
              <p:tags r:id="rId12"/>
            </p:custDataLst>
          </p:nvPr>
        </p:nvCxnSpPr>
        <p:spPr>
          <a:xfrm rot="10800000">
            <a:off x="2224137" y="1756666"/>
            <a:ext cx="1996884" cy="30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4A4243-2422-1B82-48BB-E6A70F61305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 flipH="1">
            <a:off x="2391644" y="1567032"/>
            <a:ext cx="1218521" cy="167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4000" rIns="0" bIns="0" rtlCol="0" anchor="t">
            <a:spAutoFit/>
          </a:bodyPr>
          <a:lstStyle>
            <a:defPPr>
              <a:defRPr lang="en-GB"/>
            </a:defPPr>
            <a:lvl1pPr algn="ctr">
              <a:defRPr sz="800">
                <a:latin typeface="Arial"/>
                <a:cs typeface="Arial"/>
              </a:defRPr>
            </a:lvl1pPr>
          </a:lstStyle>
          <a:p>
            <a:r>
              <a:rPr lang="en-GB" sz="933"/>
              <a:t>Fabric  Shortcut(Pull)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D141F-3F96-CF54-CF05-8DA61DF77AE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478233" y="2655129"/>
            <a:ext cx="2144479" cy="2871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GB"/>
            </a:defPPr>
            <a:lvl1pPr algn="ctr">
              <a:defRPr sz="800">
                <a:latin typeface="Arial"/>
                <a:cs typeface="Arial"/>
              </a:defRPr>
            </a:lvl1pPr>
          </a:lstStyle>
          <a:p>
            <a:r>
              <a:rPr lang="en-GB" sz="933"/>
              <a:t>Notebooks</a:t>
            </a:r>
          </a:p>
          <a:p>
            <a:r>
              <a:rPr lang="en-GB" sz="933"/>
              <a:t> (Integration + Transformation)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F66F2-158A-9E54-BE1A-D2B73C4D804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77889" y="5903236"/>
            <a:ext cx="1016891" cy="451534"/>
          </a:xfrm>
          <a:prstGeom prst="rect">
            <a:avLst/>
          </a:prstGeom>
          <a:solidFill>
            <a:srgbClr val="0070C0"/>
          </a:solidFill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67" b="1">
                <a:solidFill>
                  <a:schemeClr val="bg1"/>
                </a:solidFill>
                <a:latin typeface="Arial"/>
                <a:cs typeface="Arial"/>
              </a:rPr>
              <a:t>Flow start point </a:t>
            </a:r>
            <a:endParaRPr lang="en-US" sz="1067" b="1">
              <a:solidFill>
                <a:schemeClr val="bg1"/>
              </a:solidFill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03CB058C-6222-B21F-5BE8-F21004846E6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303228" y="6177905"/>
            <a:ext cx="555409" cy="459839"/>
          </a:xfrm>
          <a:prstGeom prst="star5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765CD6-E3D2-B4C5-4F11-7D110CF24B4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07872" y="3784697"/>
            <a:ext cx="1927867" cy="1110048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t"/>
          <a:lstStyle/>
          <a:p>
            <a:pPr algn="ctr"/>
            <a:r>
              <a:rPr lang="en-CA" sz="1333" b="1">
                <a:solidFill>
                  <a:schemeClr val="tx1"/>
                </a:solidFill>
              </a:rPr>
              <a:t>Canada Sources</a:t>
            </a:r>
            <a:endParaRPr lang="en-US" sz="1333" b="1">
              <a:solidFill>
                <a:schemeClr val="tx1"/>
              </a:solidFill>
            </a:endParaRPr>
          </a:p>
          <a:p>
            <a:pPr algn="r"/>
            <a:endParaRPr lang="en-US" sz="1333" b="1">
              <a:solidFill>
                <a:schemeClr val="tx1"/>
              </a:solidFill>
              <a:cs typeface="Arial"/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08940B8E-D3C2-4814-2D6D-7A924AA8BF67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97036" y="4116034"/>
            <a:ext cx="1565275" cy="375279"/>
          </a:xfrm>
          <a:prstGeom prst="can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933">
                <a:solidFill>
                  <a:srgbClr val="000000"/>
                </a:solidFill>
                <a:cs typeface="Arial"/>
              </a:rPr>
              <a:t>SQL (Workday)</a:t>
            </a:r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71AEF045-4551-0DBA-56F2-389A38DCB51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52675" y="4542656"/>
            <a:ext cx="1238261" cy="312059"/>
          </a:xfrm>
          <a:prstGeom prst="can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933">
                <a:solidFill>
                  <a:srgbClr val="000000"/>
                </a:solidFill>
                <a:cs typeface="Arial"/>
              </a:rPr>
              <a:t>SQL (SAP)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B9AC61-4BE0-4006-A1C2-FA9127538F1F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 flipV="1">
            <a:off x="1471805" y="4854715"/>
            <a:ext cx="0" cy="48896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0C7DC7D-F128-3679-ABEB-A3C3DDCDF41D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87499" y="3431055"/>
            <a:ext cx="4165011" cy="385791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BE8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8000" rIns="0" bIns="48000" rtlCol="0" anchor="ctr"/>
          <a:lstStyle/>
          <a:p>
            <a:pPr algn="ctr"/>
            <a:r>
              <a:rPr lang="en-CA" sz="1067">
                <a:solidFill>
                  <a:schemeClr val="tx1"/>
                </a:solidFill>
              </a:rPr>
              <a:t>Orchestration Pipelines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A4455E-1985-BCC2-8323-5E6D94AAFC6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4645281" y="2606246"/>
            <a:ext cx="1134553" cy="389116"/>
          </a:xfrm>
          <a:prstGeom prst="rect">
            <a:avLst/>
          </a:prstGeom>
          <a:solidFill>
            <a:schemeClr val="bg1"/>
          </a:solidFill>
          <a:ln w="3175" cap="sq">
            <a:solidFill>
              <a:srgbClr val="CBB14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 anchorCtr="0"/>
          <a:lstStyle/>
          <a:p>
            <a:pPr algn="ctr"/>
            <a:r>
              <a:rPr lang="en-GB" sz="1200" b="1">
                <a:solidFill>
                  <a:schemeClr val="tx1"/>
                </a:solidFill>
              </a:rPr>
              <a:t>Silver layer 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1C038C-D8AC-351D-DC1A-44DD529B6E43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13959" y="2275839"/>
            <a:ext cx="2178648" cy="1163960"/>
          </a:xfrm>
          <a:prstGeom prst="rect">
            <a:avLst/>
          </a:prstGeom>
          <a:solidFill>
            <a:srgbClr val="FFFFCC"/>
          </a:solidFill>
          <a:ln w="0">
            <a:solidFill>
              <a:srgbClr val="70717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t"/>
          <a:lstStyle/>
          <a:p>
            <a:pPr algn="ctr"/>
            <a:r>
              <a:rPr lang="en-GB" sz="1067" b="1">
                <a:solidFill>
                  <a:schemeClr val="tx1"/>
                </a:solidFill>
              </a:rPr>
              <a:t>Canada </a:t>
            </a:r>
            <a:r>
              <a:rPr lang="en-GB" sz="1067">
                <a:solidFill>
                  <a:schemeClr val="tx1"/>
                </a:solidFill>
              </a:rPr>
              <a:t>Workspace</a:t>
            </a:r>
            <a:endParaRPr lang="en-GB" sz="1067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343852-B96F-4512-B82B-175D83446760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5377" y="2608552"/>
            <a:ext cx="1990683" cy="611837"/>
          </a:xfrm>
          <a:prstGeom prst="rect">
            <a:avLst/>
          </a:prstGeom>
          <a:solidFill>
            <a:srgbClr val="F7D3C1"/>
          </a:solidFill>
          <a:ln w="3175" cap="sq">
            <a:solidFill>
              <a:srgbClr val="BE833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t"/>
          <a:lstStyle/>
          <a:p>
            <a:r>
              <a:rPr lang="en-GB" sz="1200">
                <a:solidFill>
                  <a:schemeClr val="tx1"/>
                </a:solidFill>
              </a:rPr>
              <a:t>Bronze Layer (CAN_RMDD)</a:t>
            </a:r>
          </a:p>
          <a:p>
            <a:r>
              <a:rPr lang="en-GB" sz="933">
                <a:solidFill>
                  <a:schemeClr val="tx1"/>
                </a:solidFill>
              </a:rPr>
              <a:t>- </a:t>
            </a:r>
            <a:r>
              <a:rPr lang="en-US" sz="933">
                <a:solidFill>
                  <a:srgbClr val="000000"/>
                </a:solidFill>
                <a:cs typeface="Arial"/>
              </a:rPr>
              <a:t>SAP(GMDR) </a:t>
            </a:r>
          </a:p>
          <a:p>
            <a:r>
              <a:rPr lang="en-US" sz="933" b="1">
                <a:solidFill>
                  <a:srgbClr val="000000"/>
                </a:solidFill>
                <a:cs typeface="Arial"/>
              </a:rPr>
              <a:t>-</a:t>
            </a:r>
            <a:r>
              <a:rPr lang="en-US" sz="933">
                <a:solidFill>
                  <a:srgbClr val="000000"/>
                </a:solidFill>
                <a:cs typeface="Arial"/>
              </a:rPr>
              <a:t> Workday(RMDD)</a:t>
            </a:r>
            <a:endParaRPr lang="en-US" sz="933">
              <a:solidFill>
                <a:schemeClr val="tx1"/>
              </a:solidFill>
            </a:endParaRPr>
          </a:p>
        </p:txBody>
      </p:sp>
      <p:cxnSp>
        <p:nvCxnSpPr>
          <p:cNvPr id="3086" name="Straight Arrow Connector 3085">
            <a:extLst>
              <a:ext uri="{FF2B5EF4-FFF2-40B4-BE49-F238E27FC236}">
                <a16:creationId xmlns:a16="http://schemas.microsoft.com/office/drawing/2014/main" id="{E58DBE1C-9678-8A6B-CFB5-AA7414BEAFE2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>
            <a:off x="2515177" y="2800804"/>
            <a:ext cx="2135244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ylinder 34">
            <a:extLst>
              <a:ext uri="{FF2B5EF4-FFF2-40B4-BE49-F238E27FC236}">
                <a16:creationId xmlns:a16="http://schemas.microsoft.com/office/drawing/2014/main" id="{A4E5DF78-EDF3-26AE-D3FE-E6B3F02BD25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3836187" y="3970117"/>
            <a:ext cx="3987020" cy="839131"/>
          </a:xfrm>
          <a:prstGeom prst="can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8000" rIns="0" bIns="48000" rtlCol="0" anchor="ctr"/>
          <a:lstStyle/>
          <a:p>
            <a:pPr algn="ctr"/>
            <a:endParaRPr lang="en-US" sz="933">
              <a:solidFill>
                <a:srgbClr val="000000"/>
              </a:solidFill>
              <a:cs typeface="Arial"/>
            </a:endParaRPr>
          </a:p>
          <a:p>
            <a:pPr algn="ctr"/>
            <a:r>
              <a:rPr lang="en-US" sz="1333">
                <a:solidFill>
                  <a:srgbClr val="000000"/>
                </a:solidFill>
                <a:cs typeface="Arial"/>
              </a:rPr>
              <a:t>Metadata</a:t>
            </a:r>
          </a:p>
          <a:p>
            <a:pPr algn="ctr"/>
            <a:r>
              <a:rPr lang="en-US" sz="1333">
                <a:solidFill>
                  <a:srgbClr val="000000"/>
                </a:solidFill>
                <a:cs typeface="Arial"/>
              </a:rPr>
              <a:t>Logging</a:t>
            </a:r>
          </a:p>
          <a:p>
            <a:pPr algn="ctr"/>
            <a:r>
              <a:rPr lang="en-US" sz="1333">
                <a:solidFill>
                  <a:srgbClr val="000000"/>
                </a:solidFill>
                <a:cs typeface="Arial"/>
              </a:rPr>
              <a:t>Watermarking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1F1A2F-744D-F7F7-9A3B-38C4BA8735C9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4221019" y="1856379"/>
            <a:ext cx="2306868" cy="403699"/>
          </a:xfrm>
          <a:prstGeom prst="rect">
            <a:avLst/>
          </a:prstGeom>
          <a:solidFill>
            <a:schemeClr val="bg1"/>
          </a:solidFill>
          <a:ln w="3175" cap="sq">
            <a:solidFill>
              <a:srgbClr val="CBB14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 anchorCtr="0"/>
          <a:lstStyle/>
          <a:p>
            <a:pPr algn="ctr"/>
            <a:r>
              <a:rPr lang="en-GB" sz="1200" b="1" err="1">
                <a:solidFill>
                  <a:schemeClr val="tx1"/>
                </a:solidFill>
              </a:rPr>
              <a:t>External_curated</a:t>
            </a:r>
            <a:r>
              <a:rPr lang="en-GB" sz="1200" b="1">
                <a:solidFill>
                  <a:schemeClr val="tx1"/>
                </a:solidFill>
              </a:rPr>
              <a:t> layer</a:t>
            </a:r>
          </a:p>
          <a:p>
            <a:pPr algn="ctr"/>
            <a:r>
              <a:rPr lang="en-GB" sz="1200" b="1">
                <a:solidFill>
                  <a:schemeClr val="tx1"/>
                </a:solidFill>
              </a:rPr>
              <a:t>(Taxonomy, Canonical)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76B1E6F-33AC-6DE1-32DE-FE9BC15D9295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 flipH="1" flipV="1">
            <a:off x="5929089" y="3685310"/>
            <a:ext cx="1" cy="28628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D84C74C-755B-1544-8A68-CC3EA8BE11F7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 flipV="1">
            <a:off x="1471805" y="3329127"/>
            <a:ext cx="0" cy="48896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4942262-137D-004D-A64E-F6BB34BE1BC6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>
            <a:off x="5259156" y="3685310"/>
            <a:ext cx="0" cy="30480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D9A55C4-47FE-28BF-2706-7BB20B2455DC}"/>
              </a:ext>
            </a:extLst>
          </p:cNvPr>
          <p:cNvCxnSpPr>
            <a:cxnSpLocks/>
            <a:endCxn id="11" idx="0"/>
          </p:cNvCxnSpPr>
          <p:nvPr>
            <p:custDataLst>
              <p:tags r:id="rId31"/>
            </p:custDataLst>
          </p:nvPr>
        </p:nvCxnSpPr>
        <p:spPr>
          <a:xfrm>
            <a:off x="5212557" y="2217130"/>
            <a:ext cx="0" cy="38911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919F785-3012-939F-A647-1E860E59E905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669002" y="2655129"/>
            <a:ext cx="2154205" cy="2871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GB"/>
            </a:defPPr>
            <a:lvl1pPr algn="ctr">
              <a:defRPr sz="800">
                <a:latin typeface="Arial"/>
                <a:cs typeface="Arial"/>
              </a:defRPr>
            </a:lvl1pPr>
          </a:lstStyle>
          <a:p>
            <a:r>
              <a:rPr lang="en-GB" sz="933"/>
              <a:t>Notebooks</a:t>
            </a:r>
          </a:p>
          <a:p>
            <a:r>
              <a:rPr lang="en-GB" sz="933"/>
              <a:t> (Integration + Transformation)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306A312-C843-E14E-7571-CB7F0DAEFB41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 flipV="1">
            <a:off x="758264" y="4491313"/>
            <a:ext cx="0" cy="80837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02B2CBF-815A-3661-B502-707F9C4CE33B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 flipV="1">
            <a:off x="3982661" y="2995361"/>
            <a:ext cx="0" cy="495899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Arrow Connector 3077">
            <a:extLst>
              <a:ext uri="{FF2B5EF4-FFF2-40B4-BE49-F238E27FC236}">
                <a16:creationId xmlns:a16="http://schemas.microsoft.com/office/drawing/2014/main" id="{78ABA9D5-F737-3E01-9361-22AB9BCAC19D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>
          <a:xfrm>
            <a:off x="6695111" y="2995361"/>
            <a:ext cx="0" cy="495899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D0733E0D-02B0-21AB-A92B-1E1E8827406F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9894677" y="2278571"/>
            <a:ext cx="1927867" cy="1110048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 anchorCtr="0"/>
          <a:lstStyle/>
          <a:p>
            <a:pPr algn="ctr"/>
            <a:r>
              <a:rPr lang="en-CA" sz="1333" b="1">
                <a:solidFill>
                  <a:schemeClr val="tx1"/>
                </a:solidFill>
              </a:rPr>
              <a:t>Consumer </a:t>
            </a:r>
          </a:p>
          <a:p>
            <a:pPr algn="ctr"/>
            <a:r>
              <a:rPr lang="en-CA" sz="1333" b="1">
                <a:solidFill>
                  <a:schemeClr val="tx1"/>
                </a:solidFill>
              </a:rPr>
              <a:t>Global Databricks</a:t>
            </a:r>
          </a:p>
        </p:txBody>
      </p:sp>
      <p:cxnSp>
        <p:nvCxnSpPr>
          <p:cNvPr id="3089" name="Straight Arrow Connector 3088">
            <a:extLst>
              <a:ext uri="{FF2B5EF4-FFF2-40B4-BE49-F238E27FC236}">
                <a16:creationId xmlns:a16="http://schemas.microsoft.com/office/drawing/2014/main" id="{FC7BE2AB-BEEB-B233-53F4-6751169F1387}"/>
              </a:ext>
            </a:extLst>
          </p:cNvPr>
          <p:cNvCxnSpPr>
            <a:cxnSpLocks/>
          </p:cNvCxnSpPr>
          <p:nvPr>
            <p:custDataLst>
              <p:tags r:id="rId37"/>
            </p:custDataLst>
          </p:nvPr>
        </p:nvCxnSpPr>
        <p:spPr>
          <a:xfrm>
            <a:off x="8832000" y="2832000"/>
            <a:ext cx="1085453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BA8E5-C19B-74CD-4587-1F6D7457D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58E8-9B3B-41CF-9D54-C22306B86F23}" type="slidenum">
              <a:rPr lang="en-GB" smtClean="0"/>
              <a:pPr/>
              <a:t>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79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NRFC Slow Integration – end-to-end solution architecture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sources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• Workday • approved source systems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2702966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2849270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940710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/ access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940710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Source-aligned ingestion or logical access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912157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5058461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149901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149901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• cast • normalize • validate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7121347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6" name="Shape 14"/>
          <p:cNvSpPr/>
          <p:nvPr/>
        </p:nvSpPr>
        <p:spPr>
          <a:xfrm>
            <a:off x="7267651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359091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359091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Canada data products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9330538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9476842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FF1F1"/>
          </a:solidFill>
          <a:ln w="1397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568282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/ consumers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9568282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publishing and consumption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58368" y="3063240"/>
            <a:ext cx="3429000" cy="182880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658368" y="3063240"/>
            <a:ext cx="82296" cy="1828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859536" y="3209544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orchestration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859536" y="3593592"/>
            <a:ext cx="308152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metadata defines work. Pipelines coordinate execution.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4389120" y="3063240"/>
            <a:ext cx="3429000" cy="182880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4389120" y="3063240"/>
            <a:ext cx="82296" cy="1828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590288" y="3209544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4590288" y="3593592"/>
            <a:ext cx="308152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 apply focused mapping and conformance logic.</a:t>
            </a:r>
            <a:endParaRPr lang="en-US" sz="1150"/>
          </a:p>
        </p:txBody>
      </p:sp>
      <p:sp>
        <p:nvSpPr>
          <p:cNvPr id="31" name="Shape 29"/>
          <p:cNvSpPr/>
          <p:nvPr/>
        </p:nvSpPr>
        <p:spPr>
          <a:xfrm>
            <a:off x="8119872" y="3063240"/>
            <a:ext cx="3429000" cy="182880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8119872" y="3063240"/>
            <a:ext cx="82296" cy="1828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8321040" y="3209544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controls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8321040" y="3593592"/>
            <a:ext cx="308152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• lineage • watermarks • reconciliation • contract validation.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685800" y="530352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build a reusable integration platform, not a collection of table-specific pipelines.</a:t>
            </a:r>
            <a:endParaRPr lang="en-US" sz="160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NRFC architecture through the Well-Architected lens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LENS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82296" cy="74980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78408" y="1380744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978408" y="1764792"/>
            <a:ext cx="10259568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Watermarks • execution state • controlled MERGE • validation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777240" y="2176272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777240" y="2176272"/>
            <a:ext cx="82296" cy="74980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978408" y="2322576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78408" y="2706624"/>
            <a:ext cx="10259568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boundaries • identity • least privilege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777240" y="3118104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777240" y="3118104"/>
            <a:ext cx="82296" cy="74980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78408" y="3264408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978408" y="3648456"/>
            <a:ext cx="10259568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 • incremental work • capacity sizing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777240" y="4059936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777240" y="4059936"/>
            <a:ext cx="82296" cy="74980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978408" y="4206240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978408" y="4590288"/>
            <a:ext cx="10259568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orchestration • logging • Monitor • runbooks • CI/CD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777240" y="5001768"/>
            <a:ext cx="10607040" cy="749808"/>
          </a:xfrm>
          <a:prstGeom prst="roundRect">
            <a:avLst>
              <a:gd name="adj" fmla="val 609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777240" y="5001768"/>
            <a:ext cx="82296" cy="74980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978408" y="5148072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Efficiency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78408" y="5532120"/>
            <a:ext cx="10259568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windows • parallel workers • Delta processing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Fabric: environment boundaries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DESIGN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77240" y="144475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337560" cy="2194560"/>
          </a:xfrm>
          <a:prstGeom prst="roundRect">
            <a:avLst>
              <a:gd name="adj" fmla="val 2083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82296" cy="2194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78408" y="21579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ws_canada_global_mds_dev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978408" y="2542032"/>
            <a:ext cx="2990088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+ developer validation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F8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3375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572000" y="144475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3337560" cy="2194560"/>
          </a:xfrm>
          <a:prstGeom prst="roundRect">
            <a:avLst>
              <a:gd name="adj" fmla="val 2083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72000" y="2011680"/>
            <a:ext cx="82296" cy="2194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773168" y="21579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ws_canada_global_mds_test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4773168" y="2542032"/>
            <a:ext cx="2990088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 + UAT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F16 / scale for testing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8366760" y="1417320"/>
            <a:ext cx="33375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366760" y="144475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8366760" y="2011680"/>
            <a:ext cx="3337560" cy="2194560"/>
          </a:xfrm>
          <a:prstGeom prst="roundRect">
            <a:avLst>
              <a:gd name="adj" fmla="val 2083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8366760" y="2011680"/>
            <a:ext cx="82296" cy="2194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8567928" y="21579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ws_canada_global_mds_prod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8567928" y="2542032"/>
            <a:ext cx="2990088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+ governed consumption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F64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 standard: same logical structure and item names across environments; runtime values are externalized and promotion is controlled.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≠ data layer. Dev/Test/Prod are workspace boundaries; Bronze/Silver/Gold are processing responsibilities.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design: OneLake storage, multiple access engines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ARCHITECTURE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3474720"/>
          </a:xfrm>
          <a:prstGeom prst="roundRect">
            <a:avLst>
              <a:gd name="adj" fmla="val 1316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2296" cy="3474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41248" y="147218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NRFC Lakehouse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3310128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/ shortcuts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tables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 and governed tables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82296" cy="1051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727448" y="1472184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notebooks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727448" y="1856232"/>
            <a:ext cx="28986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+ transformation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4526280" y="2587752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26280" y="2587752"/>
            <a:ext cx="82296" cy="1051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727448" y="2734056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analytics endpoint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4727448" y="3118104"/>
            <a:ext cx="28986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consumption + validation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4526280" y="3849624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526280" y="3849624"/>
            <a:ext cx="82296" cy="1051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727448" y="3995928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Lake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4727448" y="4379976"/>
            <a:ext cx="28986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by Global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8028432" y="1325880"/>
            <a:ext cx="3520440" cy="3474720"/>
          </a:xfrm>
          <a:prstGeom prst="roundRect">
            <a:avLst>
              <a:gd name="adj" fmla="val 1316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8028432" y="1325880"/>
            <a:ext cx="82296" cy="3474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229600" y="1472184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intent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229600" y="1856232"/>
            <a:ext cx="3172968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storage foundation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engines access the right representation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unnecessary copies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lakehouse, logical layers, clear responsibilities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17392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3334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/ source aligned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4175760" y="189280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4322064" y="1508760"/>
            <a:ext cx="3517392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413504" y="169164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413504" y="2066544"/>
            <a:ext cx="3334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/ conformed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7857744" y="189280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8004048" y="1508760"/>
            <a:ext cx="3517392" cy="1188720"/>
          </a:xfrm>
          <a:prstGeom prst="roundRect">
            <a:avLst>
              <a:gd name="adj" fmla="val 3077"/>
            </a:avLst>
          </a:prstGeom>
          <a:solidFill>
            <a:srgbClr val="FFF1F1"/>
          </a:solidFill>
          <a:ln w="1397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095488" y="169164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095488" y="2066544"/>
            <a:ext cx="3334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/ canonical contract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77240" y="3063240"/>
            <a:ext cx="3337560" cy="1920240"/>
          </a:xfrm>
          <a:prstGeom prst="roundRect">
            <a:avLst>
              <a:gd name="adj" fmla="val 2381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777240" y="3063240"/>
            <a:ext cx="82296" cy="19202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78408" y="320954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978408" y="3593592"/>
            <a:ext cx="299008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source meaning. Use shortcuts / approved source-facing objects where replication adds no value.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4434840" y="3063240"/>
            <a:ext cx="3337560" cy="1920240"/>
          </a:xfrm>
          <a:prstGeom prst="roundRect">
            <a:avLst>
              <a:gd name="adj" fmla="val 2381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434840" y="3063240"/>
            <a:ext cx="82296" cy="19202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636008" y="320954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4636008" y="3593592"/>
            <a:ext cx="299008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• normalization • mappings • deduplication • data-quality rules • MERGE.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8092440" y="3063240"/>
            <a:ext cx="3337560" cy="1920240"/>
          </a:xfrm>
          <a:prstGeom prst="roundRect">
            <a:avLst>
              <a:gd name="adj" fmla="val 2381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8092440" y="3063240"/>
            <a:ext cx="82296" cy="19202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8293608" y="320954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8293608" y="3593592"/>
            <a:ext cx="299008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Canada data products designed for governed downstream consumption and sharing.</a:t>
            </a:r>
            <a:endParaRPr lang="en-US" sz="115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NRFC lakehouse: logical organization of data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NRFC IMPLEMENTATION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606040" cy="3611880"/>
          </a:xfrm>
          <a:prstGeom prst="roundRect">
            <a:avLst>
              <a:gd name="adj" fmla="val 1754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2296" cy="36118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41248" y="14721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/ source-aligned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2258568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 and approved source-facing objects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Read-oriented boundary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3429000" y="1325880"/>
            <a:ext cx="2606040" cy="1645920"/>
          </a:xfrm>
          <a:prstGeom prst="roundRect">
            <a:avLst>
              <a:gd name="adj" fmla="val 277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429000" y="1325880"/>
            <a:ext cx="82296" cy="1645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630168" y="14721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silver_rmdd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630168" y="1856232"/>
            <a:ext cx="225856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Conformed Canada business data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Delta tables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3429000" y="3291840"/>
            <a:ext cx="2606040" cy="1645920"/>
          </a:xfrm>
          <a:prstGeom prst="roundRect">
            <a:avLst>
              <a:gd name="adj" fmla="val 2778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429000" y="3291840"/>
            <a:ext cx="82296" cy="1645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630168" y="343814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silver_gmdr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3630168" y="3822192"/>
            <a:ext cx="225856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Conformed Global/master source data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Delta tables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331720" cy="3611880"/>
          </a:xfrm>
          <a:prstGeom prst="roundRect">
            <a:avLst>
              <a:gd name="adj" fmla="val 1961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82296" cy="36118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419088" y="1472184"/>
            <a:ext cx="198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stage_taxonomy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19088" y="1856232"/>
            <a:ext cx="1984248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+ taxonomy lookups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structures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8732520" y="1325880"/>
            <a:ext cx="2788920" cy="3611880"/>
          </a:xfrm>
          <a:prstGeom prst="roundRect">
            <a:avLst>
              <a:gd name="adj" fmla="val 1639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8732520" y="1325880"/>
            <a:ext cx="82296" cy="36118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933688" y="14721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/ canonical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933688" y="1856232"/>
            <a:ext cx="2441448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Canada canonical data products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contract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names communicate layer/domain responsibility; table names communicate the business entity.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Shortcuts: use logical access where copying adds no value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 DESIGN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17392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/ shared source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3334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• taxonomy • governed data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4175760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4322064" y="1417320"/>
            <a:ext cx="3517392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413504" y="160020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 shortcut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413504" y="1975104"/>
            <a:ext cx="3334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pointer to approved data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7857744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8004048" y="1417320"/>
            <a:ext cx="3517392" cy="1188720"/>
          </a:xfrm>
          <a:prstGeom prst="roundRect">
            <a:avLst>
              <a:gd name="adj" fmla="val 3077"/>
            </a:avLst>
          </a:prstGeom>
          <a:solidFill>
            <a:srgbClr val="FFF1F1"/>
          </a:solidFill>
          <a:ln w="1397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095488" y="1600200"/>
            <a:ext cx="333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processing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095488" y="1975104"/>
            <a:ext cx="3334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logically; materialize only when value is created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shortcuts to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731520" y="3493008"/>
            <a:ext cx="507492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unnecessary replication and duplicate storage.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reference data connected to its authoritative source.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onboarding when another ingestion copy is unnecessary.</a:t>
            </a:r>
            <a:endParaRPr lang="en-US" sz="1120"/>
          </a:p>
        </p:txBody>
      </p:sp>
      <p:sp>
        <p:nvSpPr>
          <p:cNvPr id="17" name="Text 15"/>
          <p:cNvSpPr/>
          <p:nvPr/>
        </p:nvSpPr>
        <p:spPr>
          <a:xfrm>
            <a:off x="6263640" y="31089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 when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309360" y="3493008"/>
            <a:ext cx="507492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/ conformance creates a new data product.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historical snapshot is required.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availability or ownership requires a managed local table.</a:t>
            </a:r>
            <a:endParaRPr lang="en-US" sz="112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standards: discoverable by design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STANDARDS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86968" y="1472184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 •  ws_&lt;scope&gt;_&lt;env&gt;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86968" y="1856232"/>
            <a:ext cx="486460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ws_canada_global_mds_dev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1208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464808" y="1472184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 •  lh_&lt;scope&gt;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464808" y="1856232"/>
            <a:ext cx="486460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lh_canada_global_mds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521208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86968" y="2889504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 •  pl_&lt;purpose&gt;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86968" y="3273552"/>
            <a:ext cx="486460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pl_controller | pl_worker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21208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263640" y="274320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464808" y="2889504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 •  nb_&lt;verb&gt;_&lt;entity&gt;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64808" y="3273552"/>
            <a:ext cx="486460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nb_transform_gold_master_person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521208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86968" y="4306824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 •  &lt;layer&gt;_&lt;domain&gt;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86968" y="4690872"/>
            <a:ext cx="486460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silver_rmdd | silver_gmdr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6263640" y="4160520"/>
            <a:ext cx="521208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263640" y="4160520"/>
            <a:ext cx="82296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464808" y="4306824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 •  business_entity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6464808" y="4690872"/>
            <a:ext cx="486460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client_partner_allocation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rule: lowercase • underscores • no spaces • predictable prefixes • environment suffix only where the item itself is environment-specific.</a:t>
            </a:r>
            <a:endParaRPr lang="en-US" sz="120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architecture: configuration drives execution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FRAMEWORK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/ metadata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run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2702966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2849270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940710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DB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940710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+ state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912157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5058461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149901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pl_controller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149901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+ coordinate tasks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7121347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6" name="Shape 14"/>
          <p:cNvSpPr/>
          <p:nvPr/>
        </p:nvSpPr>
        <p:spPr>
          <a:xfrm>
            <a:off x="7267651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359091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pl_worker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359091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template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9330538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9476842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FF1F1"/>
          </a:solidFill>
          <a:ln w="1397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568282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/ loader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9568282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+ merge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731520" y="3154680"/>
            <a:ext cx="3337560" cy="182880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731520" y="3154680"/>
            <a:ext cx="82296" cy="1828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32688" y="33009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mechanics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932688" y="3685032"/>
            <a:ext cx="299008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orchestration pattern remains reusable instead of cloning pipelines.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4434840" y="3154680"/>
            <a:ext cx="3337560" cy="182880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4434840" y="3154680"/>
            <a:ext cx="82296" cy="1828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636008" y="33009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change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4636008" y="3685032"/>
            <a:ext cx="299008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work is introduced through metadata plus the required transformation logic.</a:t>
            </a:r>
            <a:endParaRPr lang="en-US" sz="1150"/>
          </a:p>
        </p:txBody>
      </p:sp>
      <p:sp>
        <p:nvSpPr>
          <p:cNvPr id="31" name="Shape 29"/>
          <p:cNvSpPr/>
          <p:nvPr/>
        </p:nvSpPr>
        <p:spPr>
          <a:xfrm>
            <a:off x="8138160" y="3154680"/>
            <a:ext cx="3337560" cy="182880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8138160" y="3154680"/>
            <a:ext cx="82296" cy="1828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8339328" y="33009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Supportability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8339328" y="3685032"/>
            <a:ext cx="299008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evidence, state and checkpoints are centralized.</a:t>
            </a:r>
            <a:endParaRPr lang="en-US" sz="115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sequence: from schedule to successful state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EXECUTION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676400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Trigger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/ manual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2334768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2481072" y="1417320"/>
            <a:ext cx="1676400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572512" y="160020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Controller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572512" y="1975104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tasks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175760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4322064" y="1417320"/>
            <a:ext cx="1676400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413504" y="160020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Worker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4413504" y="1975104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6016752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6" name="Shape 14"/>
          <p:cNvSpPr/>
          <p:nvPr/>
        </p:nvSpPr>
        <p:spPr>
          <a:xfrm>
            <a:off x="6163056" y="1417320"/>
            <a:ext cx="1676400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254496" y="160020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Notebook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254496" y="1975104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→ map → merge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7857744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8004048" y="1417320"/>
            <a:ext cx="1676400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8095488" y="160020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Validate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095488" y="1975104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/ key checks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9698736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24" name="Shape 22"/>
          <p:cNvSpPr/>
          <p:nvPr/>
        </p:nvSpPr>
        <p:spPr>
          <a:xfrm>
            <a:off x="9845040" y="1417320"/>
            <a:ext cx="1676400" cy="1188720"/>
          </a:xfrm>
          <a:prstGeom prst="roundRect">
            <a:avLst>
              <a:gd name="adj" fmla="val 3077"/>
            </a:avLst>
          </a:prstGeom>
          <a:solidFill>
            <a:srgbClr val="FFF1F1"/>
          </a:solidFill>
          <a:ln w="1397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936480" y="160020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Commit state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9936480" y="1975104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+ watermark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822960" y="3246120"/>
            <a:ext cx="10561320" cy="1417320"/>
          </a:xfrm>
          <a:prstGeom prst="roundRect">
            <a:avLst>
              <a:gd name="adj" fmla="val 3226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822960" y="3246120"/>
            <a:ext cx="82296" cy="14173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1024128" y="3392424"/>
            <a:ext cx="10213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path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1024128" y="3776472"/>
            <a:ext cx="1021384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error → mark execution failed → record evidence → link to Fabric Monitor → alert support. Do not blindly advance the successful checkpoint.</a:t>
            </a:r>
            <a:endParaRPr lang="en-US" sz="115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notebook anatomy: predictable by convention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FRAMEWORK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Shared functions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utilities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2702966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2849270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940710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Parameters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940710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values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912157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5058461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149901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Mapping logic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149901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+ filter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7121347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6" name="Shape 14"/>
          <p:cNvSpPr/>
          <p:nvPr/>
        </p:nvSpPr>
        <p:spPr>
          <a:xfrm>
            <a:off x="7267651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359091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Validation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359091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+ duplicate checks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9330538" y="180136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9476842" y="141732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FF1F1"/>
          </a:solidFill>
          <a:ln w="1397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568282" y="160020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Generic loader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9568282" y="197510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write / MERGE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822960" y="3291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expectation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868680" y="3675888"/>
            <a:ext cx="10424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to use the shared functions and loader, not every internal implementation detail.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notebook-specific business mapping readable and focused.</a:t>
            </a:r>
            <a:endParaRPr lang="en-US" sz="1120"/>
          </a:p>
          <a:p>
            <a:pPr marL="165100" indent="-165100">
              <a:buSzPct val="100000"/>
              <a:buChar char="•"/>
            </a:pPr>
            <a:r>
              <a:rPr lang="en-US" sz="112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Propagate failures clearly and keep environment-specific values out of the code.</a:t>
            </a:r>
            <a:endParaRPr lang="en-US" sz="112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Transformation logic is independently pluggable</a:t>
            </a:r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mapping is separated from generic framework execution and integrated through a standard contract.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78308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67512" y="1545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667512" y="1901952"/>
            <a:ext cx="150876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create_source_view()</a:t>
            </a:r>
            <a:endParaRPr lang="en-US" sz="960"/>
          </a:p>
        </p:txBody>
      </p:sp>
      <p:sp>
        <p:nvSpPr>
          <p:cNvPr id="8" name="Text 6"/>
          <p:cNvSpPr/>
          <p:nvPr/>
        </p:nvSpPr>
        <p:spPr>
          <a:xfrm>
            <a:off x="2331720" y="17647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5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100"/>
          </a:p>
        </p:txBody>
      </p:sp>
      <p:sp>
        <p:nvSpPr>
          <p:cNvPr id="9" name="Shape 7"/>
          <p:cNvSpPr/>
          <p:nvPr/>
        </p:nvSpPr>
        <p:spPr>
          <a:xfrm>
            <a:off x="2651760" y="1417320"/>
            <a:ext cx="178308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54864" cy="1234440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816352" y="1545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Transform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2816352" y="1901952"/>
            <a:ext cx="150876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transformation_notebook</a:t>
            </a:r>
            <a:endParaRPr lang="en-US" sz="960"/>
          </a:p>
        </p:txBody>
      </p:sp>
      <p:sp>
        <p:nvSpPr>
          <p:cNvPr id="13" name="Text 11"/>
          <p:cNvSpPr/>
          <p:nvPr/>
        </p:nvSpPr>
        <p:spPr>
          <a:xfrm>
            <a:off x="4480560" y="17647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5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10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178308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54864" cy="12344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965192" y="1545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Metadata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4965192" y="1901952"/>
            <a:ext cx="150876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+ lineage</a:t>
            </a:r>
            <a:endParaRPr lang="en-US" sz="960"/>
          </a:p>
        </p:txBody>
      </p:sp>
      <p:sp>
        <p:nvSpPr>
          <p:cNvPr id="18" name="Text 16"/>
          <p:cNvSpPr/>
          <p:nvPr/>
        </p:nvSpPr>
        <p:spPr>
          <a:xfrm>
            <a:off x="6629400" y="17647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5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100"/>
          </a:p>
        </p:txBody>
      </p:sp>
      <p:sp>
        <p:nvSpPr>
          <p:cNvPr id="19" name="Shape 17"/>
          <p:cNvSpPr/>
          <p:nvPr/>
        </p:nvSpPr>
        <p:spPr>
          <a:xfrm>
            <a:off x="6949440" y="1417320"/>
            <a:ext cx="178308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949440" y="1417320"/>
            <a:ext cx="54864" cy="12344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114032" y="1545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7114032" y="1901952"/>
            <a:ext cx="150876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+ duplicates</a:t>
            </a:r>
            <a:endParaRPr lang="en-US" sz="960"/>
          </a:p>
        </p:txBody>
      </p:sp>
      <p:sp>
        <p:nvSpPr>
          <p:cNvPr id="23" name="Text 21"/>
          <p:cNvSpPr/>
          <p:nvPr/>
        </p:nvSpPr>
        <p:spPr>
          <a:xfrm>
            <a:off x="8778240" y="17647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5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100"/>
          </a:p>
        </p:txBody>
      </p:sp>
      <p:sp>
        <p:nvSpPr>
          <p:cNvPr id="24" name="Shape 22"/>
          <p:cNvSpPr/>
          <p:nvPr/>
        </p:nvSpPr>
        <p:spPr>
          <a:xfrm>
            <a:off x="9098280" y="1417320"/>
            <a:ext cx="178308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9098280" y="1417320"/>
            <a:ext cx="54864" cy="12344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9262872" y="1545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9262872" y="1901952"/>
            <a:ext cx="150876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/ overwrite / append</a:t>
            </a:r>
            <a:endParaRPr lang="en-US" sz="960"/>
          </a:p>
        </p:txBody>
      </p:sp>
      <p:sp>
        <p:nvSpPr>
          <p:cNvPr id="28" name="Shape 26"/>
          <p:cNvSpPr/>
          <p:nvPr/>
        </p:nvSpPr>
        <p:spPr>
          <a:xfrm>
            <a:off x="3529584" y="2697480"/>
            <a:ext cx="1" cy="502920"/>
          </a:xfrm>
          <a:prstGeom prst="line">
            <a:avLst/>
          </a:prstGeom>
          <a:noFill/>
          <a:ln w="22860">
            <a:solidFill>
              <a:srgbClr val="E526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2148840" y="3246120"/>
            <a:ext cx="4526280" cy="1572768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2148840" y="3246120"/>
            <a:ext cx="54864" cy="1572768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2313432" y="33741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Table-specific transformation notebook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2313432" y="3730752"/>
            <a:ext cx="4251960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a standard input contract: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source_view • map_view • target details • target_pk • watermark_filter • run_mode</a:t>
            </a:r>
            <a:endParaRPr lang="en-US" sz="960"/>
          </a:p>
        </p:txBody>
      </p:sp>
      <p:sp>
        <p:nvSpPr>
          <p:cNvPr id="33" name="Shape 31"/>
          <p:cNvSpPr/>
          <p:nvPr/>
        </p:nvSpPr>
        <p:spPr>
          <a:xfrm>
            <a:off x="6995160" y="3246120"/>
            <a:ext cx="4160520" cy="1572768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6995160" y="3246120"/>
            <a:ext cx="54864" cy="1572768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7159752" y="33741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framework contract</a:t>
            </a:r>
            <a:endParaRPr lang="en-US" sz="1250"/>
          </a:p>
        </p:txBody>
      </p:sp>
      <p:sp>
        <p:nvSpPr>
          <p:cNvPr id="36" name="Text 34"/>
          <p:cNvSpPr/>
          <p:nvPr/>
        </p:nvSpPr>
        <p:spPr>
          <a:xfrm>
            <a:off x="7159752" y="3730752"/>
            <a:ext cx="3886200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produces the mapped view. The generic framework then resumes metadata, validation and persistence.</a:t>
            </a:r>
            <a:endParaRPr lang="en-US" sz="960"/>
          </a:p>
        </p:txBody>
      </p:sp>
      <p:sp>
        <p:nvSpPr>
          <p:cNvPr id="38" name="Shape 36"/>
          <p:cNvSpPr/>
          <p:nvPr/>
        </p:nvSpPr>
        <p:spPr>
          <a:xfrm>
            <a:off x="685800" y="5715000"/>
            <a:ext cx="1083564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868680" y="5815584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latin typeface="Arial" pitchFamily="34" charset="0"/>
                <a:ea typeface="Arial" pitchFamily="34" charset="-122"/>
                <a:cs typeface="Arial" pitchFamily="34" charset="-120"/>
              </a:rPr>
              <a:t>Architecture principle: transformation logic is independently implemented, while the framework owns repeatable execution mechanics.</a:t>
            </a:r>
            <a:endParaRPr lang="en-US" sz="115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3737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Shared functions centralize reusable technical behavior</a:t>
            </a:r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notebooks focus on business rules; nb_framework_shared_functions provides common technical capabilities.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4160520" y="2258568"/>
            <a:ext cx="3886200" cy="1353312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60520" y="2258568"/>
            <a:ext cx="54864" cy="1353312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325112" y="2386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nb_framework_shared_functions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4325112" y="2743200"/>
            <a:ext cx="3611880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reusable technical library used by loader and transformation notebooks.</a:t>
            </a:r>
            <a:endParaRPr lang="en-US" sz="96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283464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54864" cy="1234440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67512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access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667512" y="1810512"/>
            <a:ext cx="256032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build_source_connection()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create_source_view()</a:t>
            </a:r>
            <a:endParaRPr lang="en-US" sz="96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283464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54864" cy="1234440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67512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667512" y="3483864"/>
            <a:ext cx="256032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to_snake_case()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clean_bronze_table()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replace_old_dates()</a:t>
            </a:r>
            <a:endParaRPr lang="en-US" sz="960"/>
          </a:p>
        </p:txBody>
      </p:sp>
      <p:sp>
        <p:nvSpPr>
          <p:cNvPr id="16" name="Shape 14"/>
          <p:cNvSpPr/>
          <p:nvPr/>
        </p:nvSpPr>
        <p:spPr>
          <a:xfrm>
            <a:off x="502920" y="4645152"/>
            <a:ext cx="283464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502920" y="4645152"/>
            <a:ext cx="54864" cy="1234440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67512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667512" y="5129784"/>
            <a:ext cx="256032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validate_null_business_keys()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validate_duplicates()</a:t>
            </a:r>
            <a:endParaRPr lang="en-US" sz="960"/>
          </a:p>
        </p:txBody>
      </p:sp>
      <p:sp>
        <p:nvSpPr>
          <p:cNvPr id="20" name="Shape 18"/>
          <p:cNvSpPr/>
          <p:nvPr/>
        </p:nvSpPr>
        <p:spPr>
          <a:xfrm>
            <a:off x="8823960" y="1325880"/>
            <a:ext cx="283464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8823960" y="1325880"/>
            <a:ext cx="54864" cy="1234440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988552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lineage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8988552" y="1810512"/>
            <a:ext cx="256032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add_metadata()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add_hash_columns()</a:t>
            </a:r>
            <a:endParaRPr lang="en-US" sz="960"/>
          </a:p>
        </p:txBody>
      </p:sp>
      <p:sp>
        <p:nvSpPr>
          <p:cNvPr id="24" name="Shape 22"/>
          <p:cNvSpPr/>
          <p:nvPr/>
        </p:nvSpPr>
        <p:spPr>
          <a:xfrm>
            <a:off x="8823960" y="2999232"/>
            <a:ext cx="283464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8823960" y="2999232"/>
            <a:ext cx="54864" cy="1234440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8988552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8988552" y="3483864"/>
            <a:ext cx="256032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load_to_target()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/ overwrite / append</a:t>
            </a:r>
            <a:endParaRPr lang="en-US" sz="960"/>
          </a:p>
        </p:txBody>
      </p:sp>
      <p:sp>
        <p:nvSpPr>
          <p:cNvPr id="28" name="Shape 26"/>
          <p:cNvSpPr/>
          <p:nvPr/>
        </p:nvSpPr>
        <p:spPr>
          <a:xfrm>
            <a:off x="8823960" y="4645152"/>
            <a:ext cx="2834640" cy="1234440"/>
          </a:xfrm>
          <a:prstGeom prst="rect">
            <a:avLst/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8823960" y="4645152"/>
            <a:ext cx="54864" cy="1234440"/>
          </a:xfrm>
          <a:prstGeom prst="rect">
            <a:avLst/>
          </a:prstGeom>
          <a:solidFill>
            <a:srgbClr val="E52620"/>
          </a:solidFill>
          <a:ln w="12700">
            <a:solidFill>
              <a:srgbClr val="E526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8988552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50"/>
          </a:p>
        </p:txBody>
      </p:sp>
      <p:sp>
        <p:nvSpPr>
          <p:cNvPr id="31" name="Text 29"/>
          <p:cNvSpPr/>
          <p:nvPr/>
        </p:nvSpPr>
        <p:spPr>
          <a:xfrm>
            <a:off x="8988552" y="5129784"/>
            <a:ext cx="2560320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setup_logging()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add_execution_error()</a:t>
            </a:r>
            <a:endParaRPr lang="en-US" sz="960"/>
          </a:p>
          <a:p>
            <a:pPr marL="0" indent="0">
              <a:buNone/>
            </a:pPr>
            <a:r>
              <a:rPr lang="en-US" sz="96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lookup_function()</a:t>
            </a:r>
            <a:endParaRPr lang="en-US" sz="960"/>
          </a:p>
        </p:txBody>
      </p:sp>
      <p:sp>
        <p:nvSpPr>
          <p:cNvPr id="32" name="Shape 30"/>
          <p:cNvSpPr/>
          <p:nvPr/>
        </p:nvSpPr>
        <p:spPr>
          <a:xfrm>
            <a:off x="3337560" y="1920240"/>
            <a:ext cx="822960" cy="640080"/>
          </a:xfrm>
          <a:prstGeom prst="line">
            <a:avLst/>
          </a:prstGeom>
          <a:noFill/>
          <a:ln w="15240">
            <a:solidFill>
              <a:srgbClr val="C8C8C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 flipV="1">
            <a:off x="3337560" y="2907792"/>
            <a:ext cx="822960" cy="676656"/>
          </a:xfrm>
          <a:prstGeom prst="line">
            <a:avLst/>
          </a:prstGeom>
          <a:noFill/>
          <a:ln w="15240">
            <a:solidFill>
              <a:srgbClr val="C8C8C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 flipV="1">
            <a:off x="3337560" y="3246120"/>
            <a:ext cx="822960" cy="1984248"/>
          </a:xfrm>
          <a:prstGeom prst="line">
            <a:avLst/>
          </a:prstGeom>
          <a:noFill/>
          <a:ln w="15240">
            <a:solidFill>
              <a:srgbClr val="C8C8C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 flipV="1">
            <a:off x="8046720" y="1920240"/>
            <a:ext cx="777240" cy="640080"/>
          </a:xfrm>
          <a:prstGeom prst="line">
            <a:avLst/>
          </a:prstGeom>
          <a:noFill/>
          <a:ln w="15240">
            <a:solidFill>
              <a:srgbClr val="C8C8C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8046720" y="2907792"/>
            <a:ext cx="777240" cy="676656"/>
          </a:xfrm>
          <a:prstGeom prst="line">
            <a:avLst/>
          </a:prstGeom>
          <a:noFill/>
          <a:ln w="15240">
            <a:solidFill>
              <a:srgbClr val="C8C8C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8046720" y="3246120"/>
            <a:ext cx="777240" cy="1984248"/>
          </a:xfrm>
          <a:prstGeom prst="line">
            <a:avLst/>
          </a:prstGeom>
          <a:noFill/>
          <a:ln w="15240">
            <a:solidFill>
              <a:srgbClr val="C8C8C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343400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5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4343400" y="436168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 •  Reuse  •  Easier maintenance  •  Less duplicate code  •  Faster onboarding</a:t>
            </a:r>
            <a:endParaRPr lang="en-US" sz="1040"/>
          </a:p>
        </p:txBody>
      </p:sp>
      <p:sp>
        <p:nvSpPr>
          <p:cNvPr id="40" name="Shape 38"/>
          <p:cNvSpPr/>
          <p:nvPr/>
        </p:nvSpPr>
        <p:spPr>
          <a:xfrm>
            <a:off x="3520440" y="5715000"/>
            <a:ext cx="516636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3703320" y="581558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concerns: business mapping stays local; reusable technical behavior stays centralized.</a:t>
            </a:r>
            <a:endParaRPr lang="en-US" sz="104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43737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design: treat curated data as a published contract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 STANDARD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91840" cy="3337560"/>
          </a:xfrm>
          <a:prstGeom prst="roundRect">
            <a:avLst>
              <a:gd name="adj" fmla="val 1389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82296" cy="3337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86968" y="1563624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processing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2944368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and Silver may evolve as implementation details when published behavior remains stable.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3337560"/>
          </a:xfrm>
          <a:prstGeom prst="roundRect">
            <a:avLst>
              <a:gd name="adj" fmla="val 1389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82296" cy="3337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636008" y="1563624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contract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636008" y="1947672"/>
            <a:ext cx="2944368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names • keys • semantics • data types • null/unknown rules • quality expectations.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291840" cy="3337560"/>
          </a:xfrm>
          <a:prstGeom prst="roundRect">
            <a:avLst>
              <a:gd name="adj" fmla="val 1389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82296" cy="3337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385048" y="1563624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385048" y="1947672"/>
            <a:ext cx="2944368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integration • downstream solutions • reporting • additional governed products.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777240" y="5230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Gold change: check breaking schema impact, keys/null behavior, downstream contracts, data-quality rules and Test validation.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from two views: Fabric Monitor + Control DB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SUPPORT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66360" cy="3383280"/>
          </a:xfrm>
          <a:prstGeom prst="roundRect">
            <a:avLst>
              <a:gd name="adj" fmla="val 1351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82296" cy="3383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32688" y="1563624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Monitor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481888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tree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errors and duration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notebook execution context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run debugging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166360" cy="3383280"/>
          </a:xfrm>
          <a:prstGeom prst="roundRect">
            <a:avLst>
              <a:gd name="adj" fmla="val 1351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82296" cy="3383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10528" y="1563624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DB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510528" y="1947672"/>
            <a:ext cx="481888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Cross-run execution history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+ lineage identifiers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+ status + watermark state</a:t>
            </a:r>
            <a:endParaRPr lang="en-US" sz="1150"/>
          </a:p>
          <a:p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URL + error context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rule: inspect state before retrying. Never “fix” an incident by arbitrarily changing a watermark or truncating a target.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CI/CD: controlled promotion, environment-independent runtime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MANAGEMENT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2702966" y="189280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2849270" y="150876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940710" y="169164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940710" y="206654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+ deploy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912157" y="189280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5058461" y="150876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149901" y="169164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149901" y="206654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+ UAT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7121347" y="189280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16" name="Shape 14"/>
          <p:cNvSpPr/>
          <p:nvPr/>
        </p:nvSpPr>
        <p:spPr>
          <a:xfrm>
            <a:off x="7267651" y="150876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397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359091" y="169164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359091" y="206654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9330538" y="189280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9476842" y="1508760"/>
            <a:ext cx="2044598" cy="1188720"/>
          </a:xfrm>
          <a:prstGeom prst="roundRect">
            <a:avLst>
              <a:gd name="adj" fmla="val 3077"/>
            </a:avLst>
          </a:prstGeom>
          <a:solidFill>
            <a:srgbClr val="FFF1F1"/>
          </a:solidFill>
          <a:ln w="1397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568282" y="1691640"/>
            <a:ext cx="1861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9568282" y="2066544"/>
            <a:ext cx="186171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promotion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822960" y="3383280"/>
            <a:ext cx="10515600" cy="1417320"/>
          </a:xfrm>
          <a:prstGeom prst="roundRect">
            <a:avLst>
              <a:gd name="adj" fmla="val 3226"/>
            </a:avLst>
          </a:prstGeom>
          <a:solidFill>
            <a:srgbClr val="FAFAFA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822960" y="3383280"/>
            <a:ext cx="82296" cy="14173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1024128" y="3529584"/>
            <a:ext cx="10168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configuration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1024128" y="3913632"/>
            <a:ext cx="1016812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IDs, lakehouse IDs, connection values and other environment-specific settings are externalized through environment configuration / Variable Library value sets.</a:t>
            </a:r>
            <a:endParaRPr lang="en-US" sz="115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to remember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13232" y="121615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150876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≠ data layer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251960" y="120700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Dev/Test/Prod are workspace boundaries; Bronze/Silver/Gold are processing responsibilities.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713232" y="2148840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13232" y="217627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508760" y="2176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is the contract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251960" y="216712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depend on curated canonical data, not internal processing layers.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713232" y="3108960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13232" y="31363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508760" y="3136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scales the platform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251960" y="312724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defines work; controller/worker provide reusable execution mechanics.</a:t>
            </a:r>
            <a:endParaRPr lang="en-US" sz="1120"/>
          </a:p>
        </p:txBody>
      </p:sp>
      <p:sp>
        <p:nvSpPr>
          <p:cNvPr id="16" name="Shape 14"/>
          <p:cNvSpPr/>
          <p:nvPr/>
        </p:nvSpPr>
        <p:spPr>
          <a:xfrm>
            <a:off x="713232" y="4069080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13232" y="409651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matters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4251960" y="408736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Executions, lineage and watermarks make processing supportable and restartable.</a:t>
            </a:r>
            <a:endParaRPr lang="en-US" sz="1120"/>
          </a:p>
        </p:txBody>
      </p:sp>
      <p:sp>
        <p:nvSpPr>
          <p:cNvPr id="20" name="Shape 18"/>
          <p:cNvSpPr/>
          <p:nvPr/>
        </p:nvSpPr>
        <p:spPr>
          <a:xfrm>
            <a:off x="713232" y="5029200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13232" y="505663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1508760" y="5056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 is architecture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251960" y="504748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Naming, lakehouse design, security, monitoring and CI/CD reduce long-term complexity.</a:t>
            </a:r>
            <a:endParaRPr lang="en-US" sz="1120"/>
          </a:p>
        </p:txBody>
      </p:sp>
      <p:sp>
        <p:nvSpPr>
          <p:cNvPr id="24" name="Text 22"/>
          <p:cNvSpPr/>
          <p:nvPr/>
        </p:nvSpPr>
        <p:spPr>
          <a:xfrm>
            <a:off x="731520" y="61447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/ live Fabric walkthrough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16666707904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55.7304513889070554"/>
  <p:tag name="STYLEXMLFILE" val="Default Style Lis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1666670373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39814808714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55.7304861111053342"/>
  <p:tag name="STYLEXMLFILE" val="Default Style Lis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39814800562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51388903640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4992013889070554"/>
  <p:tag name="MSOBJECTGROWSLEFT" val="False"/>
  <p:tag name="MSOBJECTGROWSUP" val="False"/>
  <p:tag name="MSOBJECTHASSHADOW" val="False"/>
  <p:tag name="MSOBJECTKEEPASPECTRATIOOFFHEIGHT" val="True"/>
  <p:tag name="MSOBJECTKEEPASPECTRATIOOFFWIDTH" val="False"/>
  <p:tag name="MSOBJECTPICTURESUBFOLDER" val="Full_width"/>
  <p:tag name="MSOBJECTSCALEPICTURE" val="True"/>
  <p:tag name="MSOBJECTZORDERPOSITION" val="0"/>
  <p:tag name="STYLEXMLFILE" val="Default Style Lis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62963076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6296300535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4992361111053342"/>
  <p:tag name="MSOBJECTGROWSLEFT" val="False"/>
  <p:tag name="MSOBJECTGROWSUP" val="False"/>
  <p:tag name="MSOBJECTHASSHADOW" val="False"/>
  <p:tag name="MSOBJECTKEEPASPECTRATIOOFFHEIGHT" val="True"/>
  <p:tag name="MSOBJECTKEEPASPECTRATIOOFFWIDTH" val="False"/>
  <p:tag name="MSOBJECTPICTURESUBFOLDER" val="Full_width"/>
  <p:tag name="MSOBJECTSCALEPICTURE" val="True"/>
  <p:tag name="MSOBJECTZORDERPOSITION" val="0"/>
  <p:tag name="STYLEXMLFILE" val="Default Style Lis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6296305924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745370298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7453706226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7453706478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97685202793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4992708333057951"/>
  <p:tag name="STYLEXMLFILE" val="Default Style Lis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97685208298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997685208246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009259309860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4992708333057951"/>
  <p:tag name="STYLEXMLFILE" val="Default Style Lis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009259309109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009259302268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0185190695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01851902439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6157407005350"/>
  <p:tag name="STYLEXMLFILE" val="Default Style Lis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6273148059245"/>
  <p:tag name="STYLEXMLFILE" val="Default Style Lis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01851905338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01851901063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5810185076711"/>
  <p:tag name="STYLEXMLFILE" val="Default Style Lis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2506761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5578704052486"/>
  <p:tag name="STYLEXMLFILE" val="Default Style Lis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2500157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3726852087144"/>
  <p:tag name="STYLEXMLFILE" val="Default Style Lis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82870401000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3726852005623"/>
  <p:tag name="STYLEXMLFILE" val="Default Style Lis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3726852094955"/>
  <p:tag name="STYLEXMLFILE" val="Default Style Lis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3726852036401"/>
  <p:tag name="STYLEXMLFILE" val="Default Style Lis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182870401030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06018502844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06018500456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06018502957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06018503820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06018503009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17592609798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1759260401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17592602782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1759260160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17592601628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17592606465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29166704127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29166707127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2916670326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29166706331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29166702075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29166701860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080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4579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9057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2613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7852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3789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2896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7546309193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6276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4284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0979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5610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6944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9137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8348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8703700226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9161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4302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6779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5024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5137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4629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3534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4048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2697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298611100555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21759309790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21759300609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2916667096195"/>
  <p:tag name="STYLEXMLFILE" val="Default Style Lis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36499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4898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15566"/>
  <p:tag name="STYLEXMLFILE" val="CV Styles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47445"/>
  <p:tag name="STYLEXMLFILE" val="CV 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25726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62875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54207"/>
  <p:tag name="STYLEXMLFILE" val="CV Styles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15630"/>
  <p:tag name="STYLEXMLFILE" val="CV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9385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333333065449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564815050608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67.5021527778079048"/>
  <p:tag name="STYLEXMLFILE" val="Quote Slid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356481501073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02777807839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027778075368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02777805960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02777808327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02777800187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02777802103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37501054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37503316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37501282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37500002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449074108274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3.5515625070554"/>
  <p:tag name="PLACEHOLDERAUTOMATIONTAG" val="Foot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524.657210648107055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524.657210648105795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152777800140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LegalEntity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CoverDa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037037030194"/>
  <p:tag name="STYLEXMLFILE" val="Cover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037037077474"/>
  <p:tag name="STYLEXMLFILE" val="Cover Styles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COVERIMAG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03703705334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037037030194"/>
  <p:tag name="STYLEXMLFILE" val="Cover 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037037077474"/>
  <p:tag name="STYLEXMLFILE" val="Cover Styles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LegalEntity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CoverD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5300926008189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530092601919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3530092606789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2_41271.7"/>
  <p:tag name="PLACEHOLDERAUTOMATIONTAG" val="Disclaim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TOMATIONTAG" val="NRF_Presentation cover"/>
  <p:tag name="SLIDEAUTOMATIONTYPE" val="Cover"/>
  <p:tag name="SLIDEISINMEDIASTERLINGPROJECT" val="True"/>
  <p:tag name="SLIDELAYOUTNAME" val="NRF_Presentation cover and image"/>
  <p:tag name="SLIDEPROJECTVERSION" val="6.5.24"/>
  <p:tag name="SLIDETOCOUTLINELEVEL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405"/>
  <p:tag name="ORIGINAL_WIDTH" val="357.1653"/>
  <p:tag name="PLACEHOLDERAUTOMATIONTAG" val="COVERIMAG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037037030194"/>
  <p:tag name="ORIGINAL_HEIGHT" val="101.2483"/>
  <p:tag name="ORIGINAL_WIDTH" val="330.1959"/>
  <p:tag name="STYLEXMLFILE" val="Cover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482.682037037077474"/>
  <p:tag name="ORIGINAL_HEIGHT" val="134.3"/>
  <p:tag name="ORIGINAL_WIDTH" val="330.2362"/>
  <p:tag name="STYLEXMLFILE" val="Cover Styles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6.96409"/>
  <p:tag name="ORIGINAL_WIDTH" val="301.306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UNIQUEID" val="Slide46244.37234953707055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35.1784"/>
  <p:tag name="ORIGINAL_WIDTH" val="404.026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42.40835"/>
  <p:tag name="ORIGINAL_WIDTH" val="671.2527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9.3752"/>
  <p:tag name="ORIGINAL_WIDTH" val="24.6021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2.23961"/>
  <p:tag name="ORIGINAL_WIDTH" val="38.355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68.73779"/>
  <p:tag name="ORIGINAL_WIDTH" val="125.3829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38.42756"/>
  <p:tag name="ORIGINAL_WIDTH" val="103.319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5.87622"/>
  <p:tag name="ORIGINAL_WIDTH" val="84.2766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02.437"/>
  <p:tag name="ORIGINAL_WIDTH" val="355.2988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3.84047"/>
  <p:tag name="ORIGINAL_WIDTH" val="64.8937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7.874016E-05"/>
  <p:tag name="ORIGINAL_WIDTH" val="115.232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7.8089"/>
  <p:tag name="ORIGINAL_WIDTH" val="117.926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9.913228"/>
  <p:tag name="ORIGINAL_WIDTH" val="71.9599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6.96409"/>
  <p:tag name="ORIGINAL_WIDTH" val="126.6424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31.50472"/>
  <p:tag name="ORIGINAL_WIDTH" val="92.86496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7.15583"/>
  <p:tag name="ORIGINAL_WIDTH" val="32.79976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65.55402"/>
  <p:tag name="ORIGINAL_WIDTH" val="113.850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2.16213"/>
  <p:tag name="ORIGINAL_WIDTH" val="92.43748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8.42866"/>
  <p:tag name="ORIGINAL_WIDTH" val="73.1256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8.87591"/>
  <p:tag name="ORIGINAL_WIDTH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2.78291"/>
  <p:tag name="ORIGINAL_WIDTH" val="245.965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2.97929"/>
  <p:tag name="ORIGINAL_WIDTH" val="67.00118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68.73779"/>
  <p:tag name="ORIGINAL_WIDTH" val="128.660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36.13213"/>
  <p:tag name="ORIGINAL_WIDTH" val="117.56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0"/>
  <p:tag name="ORIGINAL_WIDTH" val="126.097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49.55496"/>
  <p:tag name="ORIGINAL_WIDTH" val="235.4539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3.84047"/>
  <p:tag name="ORIGINAL_WIDTH" val="136.232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6.90638"/>
  <p:tag name="ORIGINAL_WIDTH" val="7.874016E-0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8.87591"/>
  <p:tag name="ORIGINAL_WIDTH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8.00031"/>
  <p:tag name="ORIGINAL_WIDTH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2.97929"/>
  <p:tag name="ORIGINAL_WIDTH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16.96409"/>
  <p:tag name="ORIGINAL_WIDTH" val="127.2169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47.73866"/>
  <p:tag name="ORIGINAL_WIDTH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9.28535"/>
  <p:tag name="ORIGINAL_WIDTH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29.28535"/>
  <p:tag name="ORIGINAL_WIDTH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65.55402"/>
  <p:tag name="ORIGINAL_WIDTH" val="113.850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_HEIGHT" val="0"/>
  <p:tag name="ORIGINAL_WIDTH" val="64.101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RF_English">
  <a:themeElements>
    <a:clrScheme name="NRF 23 OCT">
      <a:dk1>
        <a:srgbClr val="000000"/>
      </a:dk1>
      <a:lt1>
        <a:srgbClr val="FFFFFF"/>
      </a:lt1>
      <a:dk2>
        <a:srgbClr val="DD2720"/>
      </a:dk2>
      <a:lt2>
        <a:srgbClr val="9C9E9F"/>
      </a:lt2>
      <a:accent1>
        <a:srgbClr val="7DABA9"/>
      </a:accent1>
      <a:accent2>
        <a:srgbClr val="765E73"/>
      </a:accent2>
      <a:accent3>
        <a:srgbClr val="B18979"/>
      </a:accent3>
      <a:accent4>
        <a:srgbClr val="666666"/>
      </a:accent4>
      <a:accent5>
        <a:srgbClr val="999999"/>
      </a:accent5>
      <a:accent6>
        <a:srgbClr val="000000"/>
      </a:accent6>
      <a:hlink>
        <a:srgbClr val="56655D"/>
      </a:hlink>
      <a:folHlink>
        <a:srgbClr val="DD2720"/>
      </a:folHlink>
    </a:clrScheme>
    <a:fontScheme name="_NRF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nglish.potx" id="{0AED431F-2B9C-45BA-A195-3D13FC5492AD}" vid="{3343B9EE-AC10-4AE3-95EC-9ADF1ECB136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9b89a3-512e-4015-a9a0-fb79a74f89ed">
      <Terms xmlns="http://schemas.microsoft.com/office/infopath/2007/PartnerControls"/>
    </lcf76f155ced4ddcb4097134ff3c332f>
    <TaxCatchAll xmlns="e8ae503f-951a-44b1-bb67-234d820b471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A47458792AA246842FD73EC0111072" ma:contentTypeVersion="10" ma:contentTypeDescription="Create a new document." ma:contentTypeScope="" ma:versionID="58c36987e91d7bcb7a92d8bec4137045">
  <xsd:schema xmlns:xsd="http://www.w3.org/2001/XMLSchema" xmlns:xs="http://www.w3.org/2001/XMLSchema" xmlns:p="http://schemas.microsoft.com/office/2006/metadata/properties" xmlns:ns2="6a9b89a3-512e-4015-a9a0-fb79a74f89ed" xmlns:ns3="e8ae503f-951a-44b1-bb67-234d820b471a" targetNamespace="http://schemas.microsoft.com/office/2006/metadata/properties" ma:root="true" ma:fieldsID="4616d101b9c9aecb92e005956c4e8f69" ns2:_="" ns3:_="">
    <xsd:import namespace="6a9b89a3-512e-4015-a9a0-fb79a74f89ed"/>
    <xsd:import namespace="e8ae503f-951a-44b1-bb67-234d820b47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9b89a3-512e-4015-a9a0-fb79a74f89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457d7d1-8e42-480e-9127-b673cbf5fd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e503f-951a-44b1-bb67-234d820b471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da2dce5-b5da-483a-8ae7-80451cd4de89}" ma:internalName="TaxCatchAll" ma:showField="CatchAllData" ma:web="e8ae503f-951a-44b1-bb67-234d820b47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8A703B-44E4-40EB-8A75-B3BF7C229A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CF9F39-75CF-4486-83D3-C9F8014870C3}">
  <ds:schemaRefs>
    <ds:schemaRef ds:uri="6a9b89a3-512e-4015-a9a0-fb79a74f89ed"/>
    <ds:schemaRef ds:uri="e8ae503f-951a-44b1-bb67-234d820b471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FD7367-5B0C-46CB-865E-79766BB9F8AB}">
  <ds:schemaRefs>
    <ds:schemaRef ds:uri="6a9b89a3-512e-4015-a9a0-fb79a74f89ed"/>
    <ds:schemaRef ds:uri="e8ae503f-951a-44b1-bb67-234d820b47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NRF_English</vt:lpstr>
      <vt:lpstr>PowerPoint Presentation</vt:lpstr>
      <vt:lpstr>PowerPoint Presentation</vt:lpstr>
      <vt:lpstr>PowerPoint Presentation</vt:lpstr>
      <vt:lpstr>PowerPoint Presentation</vt:lpstr>
      <vt:lpstr>High Level Solution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NRFC Slow Integration Architecture Knowledge Transfer</dc:title>
  <dc:subject>NRFC Slow Integration Architecture Knowledge Transfer</dc:subject>
  <dc:creator>Mary Sarafraz</dc:creator>
  <cp:revision>3</cp:revision>
  <dcterms:created xsi:type="dcterms:W3CDTF">2026-10-06T17:52:08Z</dcterms:created>
  <dcterms:modified xsi:type="dcterms:W3CDTF">2026-10-06T23:15:59Z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0x01010056A47458792AA246842FD73EC0111072</vt:lpwstr>
  </property>
  <property fmtid="{D5CDD505-2E9C-101B-9397-08002B2CF9AE}" pid="3" name="MediaServiceImageTags">
    <vt:lpwstr/>
  </property>
</Properties>
</file>